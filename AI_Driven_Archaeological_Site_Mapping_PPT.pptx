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71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5" r:id="rId12"/>
    <p:sldId id="266" r:id="rId13"/>
  </p:sldIdLst>
  <p:sldSz cx="18288000" cy="10287000"/>
  <p:notesSz cx="6858000" cy="9144000"/>
  <p:embeddedFontLst>
    <p:embeddedFont>
      <p:font typeface="Algerian" panose="04020705040A02060702" pitchFamily="82" charset="0"/>
      <p:regular r:id="rId15"/>
    </p:embeddedFont>
    <p:embeddedFont>
      <p:font typeface="Arial Rounded MT Bold" panose="020F0704030504030204" pitchFamily="34" charset="0"/>
      <p:regular r:id="rId16"/>
    </p:embeddedFont>
    <p:embeddedFont>
      <p:font typeface="Book Antiqua" panose="02040602050305030304" pitchFamily="18" charset="0"/>
      <p:regular r:id="rId17"/>
      <p:bold r:id="rId18"/>
      <p:italic r:id="rId19"/>
      <p:boldItalic r:id="rId20"/>
    </p:embeddedFont>
    <p:embeddedFont>
      <p:font typeface="Calisto MT" panose="02040603050505030304" pitchFamily="18" charset="0"/>
      <p:regular r:id="rId21"/>
      <p:bold r:id="rId22"/>
      <p:italic r:id="rId23"/>
      <p:boldItalic r:id="rId24"/>
    </p:embeddedFont>
    <p:embeddedFont>
      <p:font typeface="Open Sauce Bold" panose="020B0604020202020204" charset="0"/>
      <p:regular r:id="rId25"/>
    </p:embeddedFont>
    <p:embeddedFont>
      <p:font typeface="Poppins ExtraBold" panose="00000900000000000000" pitchFamily="2" charset="0"/>
      <p:bold r:id="rId26"/>
      <p:boldItalic r:id="rId27"/>
    </p:embeddedFont>
    <p:embeddedFont>
      <p:font typeface="Poppins SemiBold" panose="00000700000000000000" pitchFamily="2" charset="0"/>
      <p:bold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FF72"/>
    <a:srgbClr val="00BFFF"/>
    <a:srgbClr val="00FFFF"/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5B290F-B3BB-4935-9FA5-AB3E299A63C5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9C075-4F09-479D-B279-9CF925271D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751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9C075-4F09-479D-B279-9CF925271D0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102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49C075-4F09-479D-B279-9CF925271D0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676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Infosys Springboard - Apps on Google Play">
            <a:extLst>
              <a:ext uri="{FF2B5EF4-FFF2-40B4-BE49-F238E27FC236}">
                <a16:creationId xmlns:a16="http://schemas.microsoft.com/office/drawing/2014/main" id="{C743863F-CBE0-823B-D809-2303F27570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9201" y="190501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Relationship Id="rId9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microsoft.com/office/2007/relationships/hdphoto" Target="../media/hdphoto1.wdp"/><Relationship Id="rId2" Type="http://schemas.openxmlformats.org/officeDocument/2006/relationships/image" Target="../media/image7.png"/><Relationship Id="rId16" Type="http://schemas.microsoft.com/office/2007/relationships/hdphoto" Target="../media/hdphoto3.wd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2.png"/><Relationship Id="rId5" Type="http://schemas.openxmlformats.org/officeDocument/2006/relationships/image" Target="../media/image8.png"/><Relationship Id="rId15" Type="http://schemas.openxmlformats.org/officeDocument/2006/relationships/image" Target="../media/image4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12.svg"/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microsoft.com/office/2007/relationships/hdphoto" Target="../media/hdphoto6.wdp"/><Relationship Id="rId4" Type="http://schemas.microsoft.com/office/2007/relationships/hdphoto" Target="../media/hdphoto5.wdp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microsoft.com/office/2007/relationships/hdphoto" Target="../media/hdphoto5.wdp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microsoft.com/office/2007/relationships/hdphoto" Target="../media/hdphoto7.wdp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12" Type="http://schemas.microsoft.com/office/2007/relationships/hdphoto" Target="../media/hdphoto9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7.wdp"/><Relationship Id="rId11" Type="http://schemas.openxmlformats.org/officeDocument/2006/relationships/image" Target="../media/image19.png"/><Relationship Id="rId5" Type="http://schemas.openxmlformats.org/officeDocument/2006/relationships/image" Target="../media/image17.png"/><Relationship Id="rId10" Type="http://schemas.microsoft.com/office/2007/relationships/hdphoto" Target="../media/hdphoto8.wdp"/><Relationship Id="rId4" Type="http://schemas.openxmlformats.org/officeDocument/2006/relationships/image" Target="../media/image12.sv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microsoft.com/office/2007/relationships/hdphoto" Target="../media/hdphoto9.wdp"/><Relationship Id="rId3" Type="http://schemas.microsoft.com/office/2007/relationships/hdphoto" Target="../media/hdphoto10.wdp"/><Relationship Id="rId7" Type="http://schemas.openxmlformats.org/officeDocument/2006/relationships/image" Target="../media/image6.svg"/><Relationship Id="rId12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microsoft.com/office/2007/relationships/hdphoto" Target="../media/hdphoto8.wdp"/><Relationship Id="rId5" Type="http://schemas.microsoft.com/office/2007/relationships/hdphoto" Target="../media/hdphoto11.wdp"/><Relationship Id="rId10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microsoft.com/office/2007/relationships/hdphoto" Target="../media/hdphoto12.wdp"/><Relationship Id="rId7" Type="http://schemas.openxmlformats.org/officeDocument/2006/relationships/image" Target="../media/image12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microsoft.com/office/2007/relationships/hdphoto" Target="../media/hdphoto11.wdp"/><Relationship Id="rId5" Type="http://schemas.openxmlformats.org/officeDocument/2006/relationships/image" Target="../media/image6.svg"/><Relationship Id="rId10" Type="http://schemas.openxmlformats.org/officeDocument/2006/relationships/image" Target="../media/image21.png"/><Relationship Id="rId4" Type="http://schemas.openxmlformats.org/officeDocument/2006/relationships/image" Target="../media/image5.png"/><Relationship Id="rId9" Type="http://schemas.microsoft.com/office/2007/relationships/hdphoto" Target="../media/hdphoto10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microsoft.com/office/2007/relationships/hdphoto" Target="../media/hdphoto13.wdp"/><Relationship Id="rId7" Type="http://schemas.openxmlformats.org/officeDocument/2006/relationships/image" Target="../media/image12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microsoft.com/office/2007/relationships/hdphoto" Target="../media/hdphoto12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7" Type="http://schemas.openxmlformats.org/officeDocument/2006/relationships/image" Target="../media/image12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svg"/><Relationship Id="rId7" Type="http://schemas.microsoft.com/office/2007/relationships/hdphoto" Target="../media/hdphoto15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microsoft.com/office/2007/relationships/hdphoto" Target="../media/hdphoto14.wdp"/><Relationship Id="rId4" Type="http://schemas.openxmlformats.org/officeDocument/2006/relationships/image" Target="../media/image24.png"/><Relationship Id="rId9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microsoft.com/office/2007/relationships/hdphoto" Target="../media/hdphoto16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Free Archaeological Site Survey Photo - Archaeology, Survey, Excavation |  Download at StockCake">
            <a:extLst>
              <a:ext uri="{FF2B5EF4-FFF2-40B4-BE49-F238E27FC236}">
                <a16:creationId xmlns:a16="http://schemas.microsoft.com/office/drawing/2014/main" id="{7C5B2BE3-C85E-22D2-4AF1-3C1EBA0B1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96131">
            <a:off x="2296607" y="-4387134"/>
            <a:ext cx="3343297" cy="33432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078" name="Picture 6" descr="AI to Help Find Archaeological Sites using Satellite Imagery, For the  Previously Missed Ones">
            <a:extLst>
              <a:ext uri="{FF2B5EF4-FFF2-40B4-BE49-F238E27FC236}">
                <a16:creationId xmlns:a16="http://schemas.microsoft.com/office/drawing/2014/main" id="{B822500A-B99A-783A-FC21-C5E1FB7AF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82" y="-5067300"/>
            <a:ext cx="5229504" cy="39221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080" name="Picture 8" descr="Digital Archaeology | Yale Egyptology">
            <a:extLst>
              <a:ext uri="{FF2B5EF4-FFF2-40B4-BE49-F238E27FC236}">
                <a16:creationId xmlns:a16="http://schemas.microsoft.com/office/drawing/2014/main" id="{CB0E7CE2-29BA-6A8E-97D3-4D230B9A9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7701">
            <a:off x="11839627" y="-4415865"/>
            <a:ext cx="4203289" cy="30211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Freeform 19">
            <a:extLst>
              <a:ext uri="{FF2B5EF4-FFF2-40B4-BE49-F238E27FC236}">
                <a16:creationId xmlns:a16="http://schemas.microsoft.com/office/drawing/2014/main" id="{20813DDE-4601-5D65-F145-4613DDDB8219}"/>
              </a:ext>
            </a:extLst>
          </p:cNvPr>
          <p:cNvSpPr/>
          <p:nvPr/>
        </p:nvSpPr>
        <p:spPr>
          <a:xfrm>
            <a:off x="8479668" y="-1462986"/>
            <a:ext cx="635757" cy="635627"/>
          </a:xfrm>
          <a:custGeom>
            <a:avLst/>
            <a:gdLst/>
            <a:ahLst/>
            <a:cxnLst/>
            <a:rect l="l" t="t" r="r" b="b"/>
            <a:pathLst>
              <a:path w="552375" h="552375">
                <a:moveTo>
                  <a:pt x="0" y="0"/>
                </a:moveTo>
                <a:lnTo>
                  <a:pt x="552375" y="0"/>
                </a:lnTo>
                <a:lnTo>
                  <a:pt x="552375" y="552375"/>
                </a:lnTo>
                <a:lnTo>
                  <a:pt x="0" y="5523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F4FE7-4D46-01FB-EA4A-6D56AA981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66F5C97-7DD6-42FF-B1B3-D735563AA5EF}"/>
              </a:ext>
            </a:extLst>
          </p:cNvPr>
          <p:cNvGrpSpPr/>
          <p:nvPr/>
        </p:nvGrpSpPr>
        <p:grpSpPr>
          <a:xfrm rot="1462113">
            <a:off x="6075459" y="2296780"/>
            <a:ext cx="5021031" cy="3570100"/>
            <a:chOff x="12497150" y="4187413"/>
            <a:chExt cx="6477000" cy="466768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977984D-F972-0788-A1E1-185DE9123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0109528">
              <a:off x="12497150" y="4187413"/>
              <a:ext cx="6477000" cy="360476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05016C39-F7F0-4381-2BCD-AFCE1E8BC173}"/>
                </a:ext>
              </a:extLst>
            </p:cNvPr>
            <p:cNvSpPr/>
            <p:nvPr/>
          </p:nvSpPr>
          <p:spPr>
            <a:xfrm rot="20137887">
              <a:off x="14321054" y="8168816"/>
              <a:ext cx="723335" cy="686277"/>
            </a:xfrm>
            <a:custGeom>
              <a:avLst/>
              <a:gdLst/>
              <a:ahLst/>
              <a:cxnLst/>
              <a:rect l="l" t="t" r="r" b="b"/>
              <a:pathLst>
                <a:path w="953559" h="953559">
                  <a:moveTo>
                    <a:pt x="0" y="0"/>
                  </a:moveTo>
                  <a:lnTo>
                    <a:pt x="953558" y="0"/>
                  </a:lnTo>
                  <a:lnTo>
                    <a:pt x="953558" y="953559"/>
                  </a:lnTo>
                  <a:lnTo>
                    <a:pt x="0" y="95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A5D91BAD-07E4-EE6C-8FDC-A32816E76723}"/>
              </a:ext>
            </a:extLst>
          </p:cNvPr>
          <p:cNvSpPr/>
          <p:nvPr/>
        </p:nvSpPr>
        <p:spPr>
          <a:xfrm>
            <a:off x="16441947" y="4341133"/>
            <a:ext cx="1466119" cy="802367"/>
          </a:xfrm>
          <a:custGeom>
            <a:avLst/>
            <a:gdLst/>
            <a:ahLst/>
            <a:cxnLst/>
            <a:rect l="l" t="t" r="r" b="b"/>
            <a:pathLst>
              <a:path w="1466119" h="802367">
                <a:moveTo>
                  <a:pt x="0" y="0"/>
                </a:moveTo>
                <a:lnTo>
                  <a:pt x="1466119" y="0"/>
                </a:lnTo>
                <a:lnTo>
                  <a:pt x="1466119" y="802367"/>
                </a:lnTo>
                <a:lnTo>
                  <a:pt x="0" y="8023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BA70C69C-2665-6DC4-65AD-8B211B2CA670}"/>
              </a:ext>
            </a:extLst>
          </p:cNvPr>
          <p:cNvSpPr/>
          <p:nvPr/>
        </p:nvSpPr>
        <p:spPr>
          <a:xfrm>
            <a:off x="379934" y="4341133"/>
            <a:ext cx="1466119" cy="802367"/>
          </a:xfrm>
          <a:custGeom>
            <a:avLst/>
            <a:gdLst/>
            <a:ahLst/>
            <a:cxnLst/>
            <a:rect l="l" t="t" r="r" b="b"/>
            <a:pathLst>
              <a:path w="1466119" h="802367">
                <a:moveTo>
                  <a:pt x="0" y="0"/>
                </a:moveTo>
                <a:lnTo>
                  <a:pt x="1466119" y="0"/>
                </a:lnTo>
                <a:lnTo>
                  <a:pt x="1466119" y="802367"/>
                </a:lnTo>
                <a:lnTo>
                  <a:pt x="0" y="8023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8437F1B-8986-78CF-BF08-3B66EDE61340}"/>
              </a:ext>
            </a:extLst>
          </p:cNvPr>
          <p:cNvSpPr txBox="1"/>
          <p:nvPr/>
        </p:nvSpPr>
        <p:spPr>
          <a:xfrm>
            <a:off x="1079357" y="6619233"/>
            <a:ext cx="1634183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6000" b="1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AI-Driven Archaeological Site Mapping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393398F-A5B9-ADD7-B706-A218728D1F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6611" t="18390" r="16141" b="23899"/>
          <a:stretch>
            <a:fillRect/>
          </a:stretch>
        </p:blipFill>
        <p:spPr>
          <a:xfrm>
            <a:off x="588535" y="298281"/>
            <a:ext cx="3276600" cy="17574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F400CA73-CD45-05BC-379B-30CC69346127}"/>
              </a:ext>
            </a:extLst>
          </p:cNvPr>
          <p:cNvGrpSpPr/>
          <p:nvPr/>
        </p:nvGrpSpPr>
        <p:grpSpPr>
          <a:xfrm>
            <a:off x="4188619" y="7778926"/>
            <a:ext cx="9910762" cy="553998"/>
            <a:chOff x="3872483" y="8479566"/>
            <a:chExt cx="9910762" cy="553998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9B1A51A-79C8-AFF4-236F-14B191DD9D7F}"/>
                </a:ext>
              </a:extLst>
            </p:cNvPr>
            <p:cNvSpPr/>
            <p:nvPr/>
          </p:nvSpPr>
          <p:spPr>
            <a:xfrm>
              <a:off x="3872483" y="8746721"/>
              <a:ext cx="316219" cy="79055"/>
            </a:xfrm>
            <a:custGeom>
              <a:avLst/>
              <a:gdLst/>
              <a:ahLst/>
              <a:cxnLst/>
              <a:rect l="l" t="t" r="r" b="b"/>
              <a:pathLst>
                <a:path w="316219" h="79055">
                  <a:moveTo>
                    <a:pt x="0" y="0"/>
                  </a:moveTo>
                  <a:lnTo>
                    <a:pt x="316220" y="0"/>
                  </a:lnTo>
                  <a:lnTo>
                    <a:pt x="316220" y="79055"/>
                  </a:lnTo>
                  <a:lnTo>
                    <a:pt x="0" y="79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F55D3CC-C0CC-3356-3565-32D2FE9F765F}"/>
                </a:ext>
              </a:extLst>
            </p:cNvPr>
            <p:cNvSpPr/>
            <p:nvPr/>
          </p:nvSpPr>
          <p:spPr>
            <a:xfrm>
              <a:off x="13467026" y="8718465"/>
              <a:ext cx="316219" cy="79055"/>
            </a:xfrm>
            <a:custGeom>
              <a:avLst/>
              <a:gdLst/>
              <a:ahLst/>
              <a:cxnLst/>
              <a:rect l="l" t="t" r="r" b="b"/>
              <a:pathLst>
                <a:path w="316219" h="79055">
                  <a:moveTo>
                    <a:pt x="0" y="0"/>
                  </a:moveTo>
                  <a:lnTo>
                    <a:pt x="316219" y="0"/>
                  </a:lnTo>
                  <a:lnTo>
                    <a:pt x="316219" y="79055"/>
                  </a:lnTo>
                  <a:lnTo>
                    <a:pt x="0" y="79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TextBox 15">
              <a:extLst>
                <a:ext uri="{FF2B5EF4-FFF2-40B4-BE49-F238E27FC236}">
                  <a16:creationId xmlns:a16="http://schemas.microsoft.com/office/drawing/2014/main" id="{82BCB7DB-071A-0D13-94A1-520F86B5A7DB}"/>
                </a:ext>
              </a:extLst>
            </p:cNvPr>
            <p:cNvSpPr txBox="1"/>
            <p:nvPr/>
          </p:nvSpPr>
          <p:spPr>
            <a:xfrm>
              <a:off x="4188702" y="8479566"/>
              <a:ext cx="9273562" cy="5539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3600" b="1" spc="-56" dirty="0">
                  <a:solidFill>
                    <a:srgbClr val="00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Vegetation &amp; Soil Detection using CNNs</a:t>
              </a:r>
            </a:p>
          </p:txBody>
        </p:sp>
      </p:grpSp>
      <p:sp>
        <p:nvSpPr>
          <p:cNvPr id="33" name="TextBox 19">
            <a:extLst>
              <a:ext uri="{FF2B5EF4-FFF2-40B4-BE49-F238E27FC236}">
                <a16:creationId xmlns:a16="http://schemas.microsoft.com/office/drawing/2014/main" id="{CA3C2DA8-3645-E8EB-2B9D-3191E09A5F6C}"/>
              </a:ext>
            </a:extLst>
          </p:cNvPr>
          <p:cNvSpPr txBox="1"/>
          <p:nvPr/>
        </p:nvSpPr>
        <p:spPr>
          <a:xfrm>
            <a:off x="588534" y="9179661"/>
            <a:ext cx="1228926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spc="-95" dirty="0">
                <a:solidFill>
                  <a:srgbClr val="00B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Presented By:  </a:t>
            </a:r>
            <a:r>
              <a:rPr lang="en-US" sz="3200" b="1" spc="-95" dirty="0">
                <a:solidFill>
                  <a:srgbClr val="D9D9D9"/>
                </a:solidFill>
                <a:latin typeface="Book Antiqua" panose="02040602050305030304" pitchFamily="18" charset="0"/>
                <a:ea typeface="Open Sauce Bold"/>
                <a:cs typeface="Open Sauce Bold"/>
                <a:sym typeface="Open Sauce Bold"/>
              </a:rPr>
              <a:t>Infosys Springboard Virtual Internship 6.0 (Batch 2)</a:t>
            </a:r>
          </a:p>
        </p:txBody>
      </p:sp>
      <p:pic>
        <p:nvPicPr>
          <p:cNvPr id="3076" name="Picture 4" descr="Free Archaeological Site Survey Photo - Archaeology, Survey, Excavation |  Download at StockCake">
            <a:extLst>
              <a:ext uri="{FF2B5EF4-FFF2-40B4-BE49-F238E27FC236}">
                <a16:creationId xmlns:a16="http://schemas.microsoft.com/office/drawing/2014/main" id="{3C42DE41-79EB-CE64-3EEE-425DCDF42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896131">
            <a:off x="2296607" y="2572835"/>
            <a:ext cx="3343297" cy="33432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078" name="Picture 6" descr="AI to Help Find Archaeological Sites using Satellite Imagery, For the  Previously Missed Ones">
            <a:extLst>
              <a:ext uri="{FF2B5EF4-FFF2-40B4-BE49-F238E27FC236}">
                <a16:creationId xmlns:a16="http://schemas.microsoft.com/office/drawing/2014/main" id="{71DB99CD-C538-5D3B-4423-3F8132858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82" y="1892669"/>
            <a:ext cx="5229504" cy="39221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080" name="Picture 8" descr="Digital Archaeology | Yale Egyptology">
            <a:extLst>
              <a:ext uri="{FF2B5EF4-FFF2-40B4-BE49-F238E27FC236}">
                <a16:creationId xmlns:a16="http://schemas.microsoft.com/office/drawing/2014/main" id="{10BF2653-9BF1-0642-B375-497C2E45F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7701">
            <a:off x="11839627" y="2544104"/>
            <a:ext cx="4203289" cy="30211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9" name="Freeform 19">
            <a:extLst>
              <a:ext uri="{FF2B5EF4-FFF2-40B4-BE49-F238E27FC236}">
                <a16:creationId xmlns:a16="http://schemas.microsoft.com/office/drawing/2014/main" id="{BBE5B641-4EB4-C210-A5B6-B58BCE8FF64F}"/>
              </a:ext>
            </a:extLst>
          </p:cNvPr>
          <p:cNvSpPr/>
          <p:nvPr/>
        </p:nvSpPr>
        <p:spPr>
          <a:xfrm>
            <a:off x="8382000" y="5508344"/>
            <a:ext cx="635757" cy="635627"/>
          </a:xfrm>
          <a:custGeom>
            <a:avLst/>
            <a:gdLst/>
            <a:ahLst/>
            <a:cxnLst/>
            <a:rect l="l" t="t" r="r" b="b"/>
            <a:pathLst>
              <a:path w="552375" h="552375">
                <a:moveTo>
                  <a:pt x="0" y="0"/>
                </a:moveTo>
                <a:lnTo>
                  <a:pt x="552375" y="0"/>
                </a:lnTo>
                <a:lnTo>
                  <a:pt x="552375" y="552375"/>
                </a:lnTo>
                <a:lnTo>
                  <a:pt x="0" y="552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60990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71625-C2E8-32E8-4D9B-35E7A357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C23A1-6E04-1389-0203-2CAD2DDE0AE0}"/>
              </a:ext>
            </a:extLst>
          </p:cNvPr>
          <p:cNvGrpSpPr/>
          <p:nvPr/>
        </p:nvGrpSpPr>
        <p:grpSpPr>
          <a:xfrm rot="457976">
            <a:off x="12285162" y="3849992"/>
            <a:ext cx="5359105" cy="3039551"/>
            <a:chOff x="-56537" y="5594049"/>
            <a:chExt cx="5993417" cy="3616085"/>
          </a:xfrm>
        </p:grpSpPr>
        <p:pic>
          <p:nvPicPr>
            <p:cNvPr id="3" name="Picture 2" descr="Speed Development with Computer Vision API Tools">
              <a:extLst>
                <a:ext uri="{FF2B5EF4-FFF2-40B4-BE49-F238E27FC236}">
                  <a16:creationId xmlns:a16="http://schemas.microsoft.com/office/drawing/2014/main" id="{D26ABBC7-CC12-406E-889F-34EC853D6E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638474">
              <a:off x="-56537" y="5594049"/>
              <a:ext cx="5429250" cy="361608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1819A7F8-6DBF-5C26-6850-4E59F36D69CE}"/>
                </a:ext>
              </a:extLst>
            </p:cNvPr>
            <p:cNvSpPr/>
            <p:nvPr/>
          </p:nvSpPr>
          <p:spPr>
            <a:xfrm rot="20717749">
              <a:off x="5181600" y="7973156"/>
              <a:ext cx="755280" cy="779778"/>
            </a:xfrm>
            <a:custGeom>
              <a:avLst/>
              <a:gdLst/>
              <a:ahLst/>
              <a:cxnLst/>
              <a:rect l="l" t="t" r="r" b="b"/>
              <a:pathLst>
                <a:path w="955305" h="955305">
                  <a:moveTo>
                    <a:pt x="0" y="0"/>
                  </a:moveTo>
                  <a:lnTo>
                    <a:pt x="955305" y="0"/>
                  </a:lnTo>
                  <a:lnTo>
                    <a:pt x="955305" y="955305"/>
                  </a:lnTo>
                  <a:lnTo>
                    <a:pt x="0" y="955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0740CDB2-58F3-12D2-E07B-BE820899220A}"/>
              </a:ext>
            </a:extLst>
          </p:cNvPr>
          <p:cNvSpPr txBox="1"/>
          <p:nvPr/>
        </p:nvSpPr>
        <p:spPr>
          <a:xfrm>
            <a:off x="1104335" y="2420444"/>
            <a:ext cx="925830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400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Project Overview</a:t>
            </a:r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A5445757-DF81-1F2C-8306-7B206D122827}"/>
              </a:ext>
            </a:extLst>
          </p:cNvPr>
          <p:cNvSpPr/>
          <p:nvPr/>
        </p:nvSpPr>
        <p:spPr>
          <a:xfrm>
            <a:off x="1104335" y="8792440"/>
            <a:ext cx="1466119" cy="802367"/>
          </a:xfrm>
          <a:custGeom>
            <a:avLst/>
            <a:gdLst/>
            <a:ahLst/>
            <a:cxnLst/>
            <a:rect l="l" t="t" r="r" b="b"/>
            <a:pathLst>
              <a:path w="1466119" h="802367">
                <a:moveTo>
                  <a:pt x="0" y="0"/>
                </a:moveTo>
                <a:lnTo>
                  <a:pt x="1466119" y="0"/>
                </a:lnTo>
                <a:lnTo>
                  <a:pt x="1466119" y="802367"/>
                </a:lnTo>
                <a:lnTo>
                  <a:pt x="0" y="8023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B2A8072-91DA-3115-0B00-9F155E22BCCD}"/>
              </a:ext>
            </a:extLst>
          </p:cNvPr>
          <p:cNvSpPr txBox="1"/>
          <p:nvPr/>
        </p:nvSpPr>
        <p:spPr>
          <a:xfrm>
            <a:off x="1104335" y="4134682"/>
            <a:ext cx="10173265" cy="3884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q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Archaeological site mapping often faces challenges due to vegetation cover and soil diversity.</a:t>
            </a:r>
          </a:p>
          <a:p>
            <a:pPr algn="l">
              <a:lnSpc>
                <a:spcPts val="38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q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Traditional methods are time-consuming and rely on manual fieldwork.</a:t>
            </a:r>
          </a:p>
          <a:p>
            <a:pPr algn="l">
              <a:lnSpc>
                <a:spcPts val="38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q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This project integrates AI-driven detection models to automate analysis of satellite or drone imagery.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301BEFA-9F04-D145-A04B-CEBA0381E6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7" r="2606" b="-4136"/>
          <a:stretch>
            <a:fillRect/>
          </a:stretch>
        </p:blipFill>
        <p:spPr>
          <a:xfrm>
            <a:off x="609600" y="692193"/>
            <a:ext cx="14970230" cy="7737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10311A4C-7CF4-8A2A-EA43-F1F1B844C053}"/>
              </a:ext>
            </a:extLst>
          </p:cNvPr>
          <p:cNvGrpSpPr/>
          <p:nvPr/>
        </p:nvGrpSpPr>
        <p:grpSpPr>
          <a:xfrm rot="1038490">
            <a:off x="11553348" y="3458979"/>
            <a:ext cx="6477000" cy="4766853"/>
            <a:chOff x="12497150" y="4187413"/>
            <a:chExt cx="6477000" cy="476685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FD9398A-C3A4-E46D-3FD3-314A525963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0109528">
              <a:off x="12497150" y="4187413"/>
              <a:ext cx="6477000" cy="360476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7D017E46-18DF-5E61-C751-90220A805DAE}"/>
                </a:ext>
              </a:extLst>
            </p:cNvPr>
            <p:cNvSpPr/>
            <p:nvPr/>
          </p:nvSpPr>
          <p:spPr>
            <a:xfrm rot="20619243">
              <a:off x="14365975" y="8267989"/>
              <a:ext cx="723335" cy="686277"/>
            </a:xfrm>
            <a:custGeom>
              <a:avLst/>
              <a:gdLst/>
              <a:ahLst/>
              <a:cxnLst/>
              <a:rect l="l" t="t" r="r" b="b"/>
              <a:pathLst>
                <a:path w="953559" h="953559">
                  <a:moveTo>
                    <a:pt x="0" y="0"/>
                  </a:moveTo>
                  <a:lnTo>
                    <a:pt x="953558" y="0"/>
                  </a:lnTo>
                  <a:lnTo>
                    <a:pt x="953558" y="953559"/>
                  </a:lnTo>
                  <a:lnTo>
                    <a:pt x="0" y="953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1" name="Freeform 25">
            <a:extLst>
              <a:ext uri="{FF2B5EF4-FFF2-40B4-BE49-F238E27FC236}">
                <a16:creationId xmlns:a16="http://schemas.microsoft.com/office/drawing/2014/main" id="{EB46647D-B247-5B05-2F94-C1F518727F55}"/>
              </a:ext>
            </a:extLst>
          </p:cNvPr>
          <p:cNvSpPr/>
          <p:nvPr/>
        </p:nvSpPr>
        <p:spPr>
          <a:xfrm>
            <a:off x="5029200" y="9134025"/>
            <a:ext cx="476779" cy="119195"/>
          </a:xfrm>
          <a:custGeom>
            <a:avLst/>
            <a:gdLst/>
            <a:ahLst/>
            <a:cxnLst/>
            <a:rect l="l" t="t" r="r" b="b"/>
            <a:pathLst>
              <a:path w="476779" h="119195">
                <a:moveTo>
                  <a:pt x="0" y="0"/>
                </a:moveTo>
                <a:lnTo>
                  <a:pt x="476779" y="0"/>
                </a:lnTo>
                <a:lnTo>
                  <a:pt x="476779" y="119195"/>
                </a:lnTo>
                <a:lnTo>
                  <a:pt x="0" y="1191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23977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10">
            <a:extLst>
              <a:ext uri="{FF2B5EF4-FFF2-40B4-BE49-F238E27FC236}">
                <a16:creationId xmlns:a16="http://schemas.microsoft.com/office/drawing/2014/main" id="{540774F4-D216-D7B6-32EB-678BFF7460D4}"/>
              </a:ext>
            </a:extLst>
          </p:cNvPr>
          <p:cNvSpPr txBox="1"/>
          <p:nvPr/>
        </p:nvSpPr>
        <p:spPr>
          <a:xfrm>
            <a:off x="1327706" y="1028700"/>
            <a:ext cx="8839199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400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Project Objectives</a:t>
            </a: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3F87D61C-32E5-23DD-F895-447A67FDD437}"/>
              </a:ext>
            </a:extLst>
          </p:cNvPr>
          <p:cNvSpPr txBox="1"/>
          <p:nvPr/>
        </p:nvSpPr>
        <p:spPr>
          <a:xfrm>
            <a:off x="6477000" y="3086100"/>
            <a:ext cx="10896600" cy="48590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It Automate vegetation detection using computer vision.</a:t>
            </a: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Ø"/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Classify soil types for archaeological terrain understanding.</a:t>
            </a:r>
          </a:p>
          <a:p>
            <a:pPr algn="l">
              <a:lnSpc>
                <a:spcPts val="38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Design an interactive web dashboard for visualization and analysis also build </a:t>
            </a:r>
            <a:r>
              <a:rPr lang="en-US" sz="3000" spc="-96" dirty="0" err="1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FastAPI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 backend for model inference.</a:t>
            </a:r>
          </a:p>
          <a:p>
            <a:pPr algn="l">
              <a:lnSpc>
                <a:spcPts val="38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Enable faster and data-driven archaeological mapping.</a:t>
            </a: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0A7929A2-7EEB-373B-0147-CAD02263A714}"/>
              </a:ext>
            </a:extLst>
          </p:cNvPr>
          <p:cNvSpPr/>
          <p:nvPr/>
        </p:nvSpPr>
        <p:spPr>
          <a:xfrm>
            <a:off x="11696700" y="9058296"/>
            <a:ext cx="476779" cy="119195"/>
          </a:xfrm>
          <a:custGeom>
            <a:avLst/>
            <a:gdLst/>
            <a:ahLst/>
            <a:cxnLst/>
            <a:rect l="l" t="t" r="r" b="b"/>
            <a:pathLst>
              <a:path w="476779" h="119195">
                <a:moveTo>
                  <a:pt x="0" y="0"/>
                </a:moveTo>
                <a:lnTo>
                  <a:pt x="476779" y="0"/>
                </a:lnTo>
                <a:lnTo>
                  <a:pt x="476779" y="119195"/>
                </a:lnTo>
                <a:lnTo>
                  <a:pt x="0" y="119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4565CC4-845C-9C25-4C43-D09B8D254B83}"/>
              </a:ext>
            </a:extLst>
          </p:cNvPr>
          <p:cNvGrpSpPr/>
          <p:nvPr/>
        </p:nvGrpSpPr>
        <p:grpSpPr>
          <a:xfrm>
            <a:off x="102583" y="5261215"/>
            <a:ext cx="5993417" cy="3616085"/>
            <a:chOff x="-56537" y="5594049"/>
            <a:chExt cx="5993417" cy="3616085"/>
          </a:xfrm>
        </p:grpSpPr>
        <p:pic>
          <p:nvPicPr>
            <p:cNvPr id="8194" name="Picture 2" descr="Speed Development with Computer Vision API Tools">
              <a:extLst>
                <a:ext uri="{FF2B5EF4-FFF2-40B4-BE49-F238E27FC236}">
                  <a16:creationId xmlns:a16="http://schemas.microsoft.com/office/drawing/2014/main" id="{ED33A57D-B0C1-6BE7-CFDA-5D47D949B2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25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638474">
              <a:off x="-56537" y="5594049"/>
              <a:ext cx="5429250" cy="361608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656DB093-203F-9FB5-2CE1-17D72B68FDF5}"/>
                </a:ext>
              </a:extLst>
            </p:cNvPr>
            <p:cNvSpPr/>
            <p:nvPr/>
          </p:nvSpPr>
          <p:spPr>
            <a:xfrm>
              <a:off x="5181600" y="7973156"/>
              <a:ext cx="755280" cy="779778"/>
            </a:xfrm>
            <a:custGeom>
              <a:avLst/>
              <a:gdLst/>
              <a:ahLst/>
              <a:cxnLst/>
              <a:rect l="l" t="t" r="r" b="b"/>
              <a:pathLst>
                <a:path w="955305" h="955305">
                  <a:moveTo>
                    <a:pt x="0" y="0"/>
                  </a:moveTo>
                  <a:lnTo>
                    <a:pt x="955305" y="0"/>
                  </a:lnTo>
                  <a:lnTo>
                    <a:pt x="955305" y="955305"/>
                  </a:lnTo>
                  <a:lnTo>
                    <a:pt x="0" y="955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5"/>
          <p:cNvSpPr/>
          <p:nvPr/>
        </p:nvSpPr>
        <p:spPr>
          <a:xfrm>
            <a:off x="4800600" y="9345684"/>
            <a:ext cx="476779" cy="119195"/>
          </a:xfrm>
          <a:custGeom>
            <a:avLst/>
            <a:gdLst/>
            <a:ahLst/>
            <a:cxnLst/>
            <a:rect l="l" t="t" r="r" b="b"/>
            <a:pathLst>
              <a:path w="476779" h="119195">
                <a:moveTo>
                  <a:pt x="0" y="0"/>
                </a:moveTo>
                <a:lnTo>
                  <a:pt x="476779" y="0"/>
                </a:lnTo>
                <a:lnTo>
                  <a:pt x="476779" y="119195"/>
                </a:lnTo>
                <a:lnTo>
                  <a:pt x="0" y="119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881E33F3-1922-F1D9-3E7C-C9DCF78846C2}"/>
              </a:ext>
            </a:extLst>
          </p:cNvPr>
          <p:cNvSpPr txBox="1"/>
          <p:nvPr/>
        </p:nvSpPr>
        <p:spPr>
          <a:xfrm>
            <a:off x="1419225" y="1028700"/>
            <a:ext cx="1021080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400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System Architecture</a:t>
            </a: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7F572E79-C4A7-9D4B-345E-E2E659CD513E}"/>
              </a:ext>
            </a:extLst>
          </p:cNvPr>
          <p:cNvSpPr txBox="1"/>
          <p:nvPr/>
        </p:nvSpPr>
        <p:spPr>
          <a:xfrm>
            <a:off x="1419225" y="3062286"/>
            <a:ext cx="10896600" cy="55835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00"/>
              </a:lnSpc>
              <a:spcAft>
                <a:spcPts val="1200"/>
              </a:spcAft>
            </a:pPr>
            <a:r>
              <a:rPr lang="en-US" sz="4000" spc="-96" dirty="0">
                <a:solidFill>
                  <a:srgbClr val="00FFFF"/>
                </a:solidFill>
                <a:latin typeface="Algerian" panose="04020705040A02060702" pitchFamily="82" charset="0"/>
                <a:ea typeface="Open Sauce"/>
                <a:cs typeface="Poppins ExtraBold" panose="00000900000000000000" pitchFamily="2" charset="0"/>
                <a:sym typeface="Open Sauce"/>
              </a:rPr>
              <a:t>Workflow:</a:t>
            </a:r>
          </a:p>
          <a:p>
            <a:pPr marL="514350" indent="-514350" algn="l">
              <a:lnSpc>
                <a:spcPts val="4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Image Collection (Google Earth Pro, </a:t>
            </a:r>
            <a:r>
              <a:rPr lang="en-US" sz="3000" spc="-96" dirty="0" err="1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Roboflow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)</a:t>
            </a:r>
          </a:p>
          <a:p>
            <a:pPr marL="514350" indent="-514350" algn="l">
              <a:lnSpc>
                <a:spcPts val="4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Data Preprocessing (Resizing to 640 × 640, Labeling)</a:t>
            </a:r>
          </a:p>
          <a:p>
            <a:pPr marL="514350" indent="-514350" algn="l">
              <a:lnSpc>
                <a:spcPts val="4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Model Training (Colab with GPU)</a:t>
            </a:r>
          </a:p>
          <a:p>
            <a:pPr marL="971550" lvl="1" indent="-514350">
              <a:lnSpc>
                <a:spcPts val="4400"/>
              </a:lnSpc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3000" b="1" spc="-96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sto MT" panose="02040603050505030304" pitchFamily="18" charset="0"/>
                <a:ea typeface="Open Sauce"/>
                <a:cs typeface="Poppins SemiBold" panose="00000700000000000000" pitchFamily="2" charset="0"/>
                <a:sym typeface="Open Sauce"/>
              </a:rPr>
              <a:t>YOLOv8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 → Vegetation Detection (</a:t>
            </a:r>
            <a:r>
              <a:rPr lang="en-US" sz="3000" b="1" spc="-96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1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 class)</a:t>
            </a:r>
          </a:p>
          <a:p>
            <a:pPr marL="971550" lvl="1" indent="-514350">
              <a:lnSpc>
                <a:spcPts val="44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3000" b="1" spc="-96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sto MT" panose="02040603050505030304" pitchFamily="18" charset="0"/>
                <a:ea typeface="Open Sauce"/>
                <a:cs typeface="Poppins SemiBold" panose="00000700000000000000" pitchFamily="2" charset="0"/>
                <a:sym typeface="Open Sauce"/>
              </a:rPr>
              <a:t>YOLOv11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 → Soil Detection (</a:t>
            </a:r>
            <a:r>
              <a:rPr lang="en-US" sz="3000" b="1" spc="-96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4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 classes)</a:t>
            </a:r>
          </a:p>
          <a:p>
            <a:pPr marL="514350" indent="-514350">
              <a:lnSpc>
                <a:spcPts val="4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Model Evaluation (Precision, Recall, </a:t>
            </a:r>
            <a:r>
              <a:rPr lang="en-US" sz="3000" b="1" spc="-96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F1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 Score)</a:t>
            </a:r>
          </a:p>
          <a:p>
            <a:pPr marL="514350" indent="-514350">
              <a:lnSpc>
                <a:spcPts val="4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API Integration with </a:t>
            </a:r>
            <a:r>
              <a:rPr lang="en-US" sz="3000" spc="-96" dirty="0" err="1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FastAPI</a:t>
            </a: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514350" indent="-514350">
              <a:lnSpc>
                <a:spcPts val="44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Frontend Visualization in React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5748F31-4C14-578A-6EBB-A436D905A525}"/>
              </a:ext>
            </a:extLst>
          </p:cNvPr>
          <p:cNvGrpSpPr/>
          <p:nvPr/>
        </p:nvGrpSpPr>
        <p:grpSpPr>
          <a:xfrm>
            <a:off x="12725400" y="2224087"/>
            <a:ext cx="3940430" cy="6574189"/>
            <a:chOff x="13248512" y="3595688"/>
            <a:chExt cx="3940430" cy="657418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7F56C32-7990-1DD4-5960-E8628494DCCA}"/>
                </a:ext>
              </a:extLst>
            </p:cNvPr>
            <p:cNvSpPr/>
            <p:nvPr/>
          </p:nvSpPr>
          <p:spPr>
            <a:xfrm>
              <a:off x="14146243" y="3595688"/>
              <a:ext cx="2046795" cy="84772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solidFill>
                    <a:schemeClr val="tx1"/>
                  </a:solidFill>
                  <a:latin typeface="Calisto MT" panose="02040603050505030304" pitchFamily="18" charset="0"/>
                  <a:cs typeface="Poppins SemiBold" panose="00000700000000000000" pitchFamily="2" charset="0"/>
                </a:rPr>
                <a:t>Data</a:t>
              </a:r>
              <a:endParaRPr lang="en-IN" sz="4000" b="1" dirty="0">
                <a:solidFill>
                  <a:schemeClr val="tx1"/>
                </a:solidFill>
                <a:latin typeface="Calisto MT" panose="02040603050505030304" pitchFamily="18" charset="0"/>
                <a:cs typeface="Poppins SemiBold" panose="00000700000000000000" pitchFamily="2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EE23B9C-8D12-F3E2-40AD-92EB8421CF33}"/>
                </a:ext>
              </a:extLst>
            </p:cNvPr>
            <p:cNvSpPr/>
            <p:nvPr/>
          </p:nvSpPr>
          <p:spPr>
            <a:xfrm>
              <a:off x="13455142" y="5462145"/>
              <a:ext cx="3733800" cy="84772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Calisto MT" panose="02040603050505030304" pitchFamily="18" charset="0"/>
                  <a:cs typeface="Poppins SemiBold" panose="00000700000000000000" pitchFamily="2" charset="0"/>
                </a:rPr>
                <a:t>YOLO Models</a:t>
              </a:r>
              <a:endParaRPr lang="en-IN" sz="3600" b="1" dirty="0">
                <a:solidFill>
                  <a:schemeClr val="tx1"/>
                </a:solidFill>
                <a:latin typeface="Calisto MT" panose="02040603050505030304" pitchFamily="18" charset="0"/>
                <a:cs typeface="Poppins SemiBold" panose="00000700000000000000" pitchFamily="2" charset="0"/>
              </a:endParaRPr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0C47D10D-48E5-06EE-3DC3-BF4E65A77891}"/>
                </a:ext>
              </a:extLst>
            </p:cNvPr>
            <p:cNvSpPr/>
            <p:nvPr/>
          </p:nvSpPr>
          <p:spPr>
            <a:xfrm>
              <a:off x="15017242" y="4540823"/>
              <a:ext cx="304800" cy="847724"/>
            </a:xfrm>
            <a:prstGeom prst="downArrow">
              <a:avLst>
                <a:gd name="adj1" fmla="val 31250"/>
                <a:gd name="adj2" fmla="val 68750"/>
              </a:avLst>
            </a:prstGeom>
            <a:solidFill>
              <a:srgbClr val="C1FF7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BCF0F4B5-FC19-64C0-3D18-3C33E7B3109E}"/>
                </a:ext>
              </a:extLst>
            </p:cNvPr>
            <p:cNvSpPr/>
            <p:nvPr/>
          </p:nvSpPr>
          <p:spPr>
            <a:xfrm>
              <a:off x="13863796" y="7392149"/>
              <a:ext cx="2611691" cy="84772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 err="1">
                  <a:solidFill>
                    <a:schemeClr val="tx1"/>
                  </a:solidFill>
                  <a:latin typeface="Calisto MT" panose="02040603050505030304" pitchFamily="18" charset="0"/>
                  <a:cs typeface="Poppins SemiBold" panose="00000700000000000000" pitchFamily="2" charset="0"/>
                </a:rPr>
                <a:t>FastAPI</a:t>
              </a:r>
              <a:endParaRPr lang="en-IN" sz="3600" b="1" dirty="0">
                <a:solidFill>
                  <a:schemeClr val="tx1"/>
                </a:solidFill>
                <a:latin typeface="Calisto MT" panose="02040603050505030304" pitchFamily="18" charset="0"/>
                <a:cs typeface="Poppins SemiBold" panose="00000700000000000000" pitchFamily="2" charset="0"/>
              </a:endParaRPr>
            </a:p>
          </p:txBody>
        </p:sp>
        <p:sp>
          <p:nvSpPr>
            <p:cNvPr id="34" name="Arrow: Down 33">
              <a:extLst>
                <a:ext uri="{FF2B5EF4-FFF2-40B4-BE49-F238E27FC236}">
                  <a16:creationId xmlns:a16="http://schemas.microsoft.com/office/drawing/2014/main" id="{D7A89B46-72F6-8C9D-7137-1E4B02299F75}"/>
                </a:ext>
              </a:extLst>
            </p:cNvPr>
            <p:cNvSpPr/>
            <p:nvPr/>
          </p:nvSpPr>
          <p:spPr>
            <a:xfrm>
              <a:off x="15017242" y="6427147"/>
              <a:ext cx="304800" cy="847724"/>
            </a:xfrm>
            <a:prstGeom prst="downArrow">
              <a:avLst>
                <a:gd name="adj1" fmla="val 31250"/>
                <a:gd name="adj2" fmla="val 68750"/>
              </a:avLst>
            </a:prstGeom>
            <a:solidFill>
              <a:srgbClr val="C1FF7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CBF0F5E-44ED-C0F5-1613-911E6131C396}"/>
                </a:ext>
              </a:extLst>
            </p:cNvPr>
            <p:cNvSpPr/>
            <p:nvPr/>
          </p:nvSpPr>
          <p:spPr>
            <a:xfrm>
              <a:off x="13248512" y="9322153"/>
              <a:ext cx="3940430" cy="84772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  <a:latin typeface="Calisto MT" panose="02040603050505030304" pitchFamily="18" charset="0"/>
                  <a:cs typeface="Poppins SemiBold" panose="00000700000000000000" pitchFamily="2" charset="0"/>
                </a:rPr>
                <a:t>React Dashboard</a:t>
              </a:r>
              <a:endParaRPr lang="en-IN" sz="3600" b="1" dirty="0">
                <a:solidFill>
                  <a:schemeClr val="tx1"/>
                </a:solidFill>
                <a:latin typeface="Calisto MT" panose="02040603050505030304" pitchFamily="18" charset="0"/>
                <a:cs typeface="Poppins SemiBold" panose="00000700000000000000" pitchFamily="2" charset="0"/>
              </a:endParaRPr>
            </a:p>
          </p:txBody>
        </p:sp>
        <p:sp>
          <p:nvSpPr>
            <p:cNvPr id="36" name="Arrow: Down 35">
              <a:extLst>
                <a:ext uri="{FF2B5EF4-FFF2-40B4-BE49-F238E27FC236}">
                  <a16:creationId xmlns:a16="http://schemas.microsoft.com/office/drawing/2014/main" id="{0E46BA9E-6188-3C09-7BEF-CA726FCA125B}"/>
                </a:ext>
              </a:extLst>
            </p:cNvPr>
            <p:cNvSpPr/>
            <p:nvPr/>
          </p:nvSpPr>
          <p:spPr>
            <a:xfrm>
              <a:off x="15022004" y="8357151"/>
              <a:ext cx="304800" cy="847724"/>
            </a:xfrm>
            <a:prstGeom prst="downArrow">
              <a:avLst>
                <a:gd name="adj1" fmla="val 31250"/>
                <a:gd name="adj2" fmla="val 68750"/>
              </a:avLst>
            </a:prstGeom>
            <a:solidFill>
              <a:srgbClr val="C1FF7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F9B38-464D-FF63-E32D-B1D3E1955E95}"/>
              </a:ext>
            </a:extLst>
          </p:cNvPr>
          <p:cNvGrpSpPr/>
          <p:nvPr/>
        </p:nvGrpSpPr>
        <p:grpSpPr>
          <a:xfrm rot="874683">
            <a:off x="11454572" y="-5123427"/>
            <a:ext cx="3695926" cy="3979438"/>
            <a:chOff x="6720490" y="2791446"/>
            <a:chExt cx="4227470" cy="4458327"/>
          </a:xfrm>
        </p:grpSpPr>
        <p:pic>
          <p:nvPicPr>
            <p:cNvPr id="6" name="Picture 2" descr="Tech Stack Diagram Template | Figma">
              <a:extLst>
                <a:ext uri="{FF2B5EF4-FFF2-40B4-BE49-F238E27FC236}">
                  <a16:creationId xmlns:a16="http://schemas.microsoft.com/office/drawing/2014/main" id="{7E970F9C-5E4D-A55F-6A62-194328F256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01" t="14470" r="35100" b="16063"/>
            <a:stretch>
              <a:fillRect/>
            </a:stretch>
          </p:blipFill>
          <p:spPr bwMode="auto">
            <a:xfrm>
              <a:off x="7122968" y="2791446"/>
              <a:ext cx="3824992" cy="445832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16037439-BE2A-434C-55D2-E564736BE27E}"/>
                </a:ext>
              </a:extLst>
            </p:cNvPr>
            <p:cNvSpPr/>
            <p:nvPr/>
          </p:nvSpPr>
          <p:spPr>
            <a:xfrm rot="20725317">
              <a:off x="6720490" y="2960732"/>
              <a:ext cx="709171" cy="709171"/>
            </a:xfrm>
            <a:custGeom>
              <a:avLst/>
              <a:gdLst/>
              <a:ahLst/>
              <a:cxnLst/>
              <a:rect l="l" t="t" r="r" b="b"/>
              <a:pathLst>
                <a:path w="709171" h="709171">
                  <a:moveTo>
                    <a:pt x="0" y="0"/>
                  </a:moveTo>
                  <a:lnTo>
                    <a:pt x="709171" y="0"/>
                  </a:lnTo>
                  <a:lnTo>
                    <a:pt x="709171" y="709171"/>
                  </a:lnTo>
                  <a:lnTo>
                    <a:pt x="0" y="709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/>
          <p:cNvSpPr/>
          <p:nvPr/>
        </p:nvSpPr>
        <p:spPr>
          <a:xfrm>
            <a:off x="7565323" y="9486900"/>
            <a:ext cx="476779" cy="119195"/>
          </a:xfrm>
          <a:custGeom>
            <a:avLst/>
            <a:gdLst/>
            <a:ahLst/>
            <a:cxnLst/>
            <a:rect l="l" t="t" r="r" b="b"/>
            <a:pathLst>
              <a:path w="476779" h="119195">
                <a:moveTo>
                  <a:pt x="0" y="0"/>
                </a:moveTo>
                <a:lnTo>
                  <a:pt x="476779" y="0"/>
                </a:lnTo>
                <a:lnTo>
                  <a:pt x="476779" y="119195"/>
                </a:lnTo>
                <a:lnTo>
                  <a:pt x="0" y="1191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45D48783-157C-E5BA-E9E3-F1919485AA0D}"/>
              </a:ext>
            </a:extLst>
          </p:cNvPr>
          <p:cNvSpPr txBox="1"/>
          <p:nvPr/>
        </p:nvSpPr>
        <p:spPr>
          <a:xfrm>
            <a:off x="1236940" y="1030873"/>
            <a:ext cx="6566773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600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Tech Stack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0CE210C-D027-1030-C889-E2E8946ECF82}"/>
              </a:ext>
            </a:extLst>
          </p:cNvPr>
          <p:cNvGrpSpPr/>
          <p:nvPr/>
        </p:nvGrpSpPr>
        <p:grpSpPr>
          <a:xfrm>
            <a:off x="1140041" y="4305300"/>
            <a:ext cx="15383062" cy="4327246"/>
            <a:chOff x="639630" y="2628899"/>
            <a:chExt cx="15383062" cy="4327246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312D6BD-A67B-CB28-8413-44E275F91D0B}"/>
                </a:ext>
              </a:extLst>
            </p:cNvPr>
            <p:cNvSpPr/>
            <p:nvPr/>
          </p:nvSpPr>
          <p:spPr>
            <a:xfrm>
              <a:off x="642589" y="2628899"/>
              <a:ext cx="2266763" cy="6096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Calisto MT" panose="02040603050505030304" pitchFamily="18" charset="0"/>
                  <a:cs typeface="Poppins SemiBold" panose="00000700000000000000" pitchFamily="2" charset="0"/>
                </a:rPr>
                <a:t>Frontend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4844AE5-0313-687F-C35D-A8E628D4FC80}"/>
                </a:ext>
              </a:extLst>
            </p:cNvPr>
            <p:cNvSpPr/>
            <p:nvPr/>
          </p:nvSpPr>
          <p:spPr>
            <a:xfrm>
              <a:off x="642589" y="3558794"/>
              <a:ext cx="2109789" cy="6096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Calisto MT" panose="02040603050505030304" pitchFamily="18" charset="0"/>
                  <a:cs typeface="Poppins SemiBold" panose="00000700000000000000" pitchFamily="2" charset="0"/>
                </a:rPr>
                <a:t>Backend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8776BB82-E820-BA69-A7B4-C32A33CBE22A}"/>
                </a:ext>
              </a:extLst>
            </p:cNvPr>
            <p:cNvSpPr/>
            <p:nvPr/>
          </p:nvSpPr>
          <p:spPr>
            <a:xfrm>
              <a:off x="652114" y="4488689"/>
              <a:ext cx="2286000" cy="6096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Calisto MT" panose="02040603050505030304" pitchFamily="18" charset="0"/>
                  <a:cs typeface="Poppins SemiBold" panose="00000700000000000000" pitchFamily="2" charset="0"/>
                </a:rPr>
                <a:t>AI Models 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DD824F9-A0A4-DB28-2EDD-69108F4F3650}"/>
                </a:ext>
              </a:extLst>
            </p:cNvPr>
            <p:cNvSpPr/>
            <p:nvPr/>
          </p:nvSpPr>
          <p:spPr>
            <a:xfrm>
              <a:off x="639630" y="5416650"/>
              <a:ext cx="2245909" cy="60960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chemeClr val="tx1"/>
                  </a:solidFill>
                  <a:latin typeface="Calisto MT" panose="02040603050505030304" pitchFamily="18" charset="0"/>
                  <a:cs typeface="Poppins SemiBold" panose="00000700000000000000" pitchFamily="2" charset="0"/>
                </a:rPr>
                <a:t>Language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7B69FDA-6D74-7394-04C3-33348A832BA1}"/>
                </a:ext>
              </a:extLst>
            </p:cNvPr>
            <p:cNvGrpSpPr/>
            <p:nvPr/>
          </p:nvGrpSpPr>
          <p:grpSpPr>
            <a:xfrm>
              <a:off x="642589" y="2672102"/>
              <a:ext cx="15380103" cy="4284043"/>
              <a:chOff x="642589" y="2672102"/>
              <a:chExt cx="15380103" cy="4284043"/>
            </a:xfrm>
          </p:grpSpPr>
          <p:sp>
            <p:nvSpPr>
              <p:cNvPr id="33" name="TextBox 20">
                <a:extLst>
                  <a:ext uri="{FF2B5EF4-FFF2-40B4-BE49-F238E27FC236}">
                    <a16:creationId xmlns:a16="http://schemas.microsoft.com/office/drawing/2014/main" id="{92FE0E22-C56B-0CD6-3C19-0DE7A5F60D0D}"/>
                  </a:ext>
                </a:extLst>
              </p:cNvPr>
              <p:cNvSpPr txBox="1"/>
              <p:nvPr/>
            </p:nvSpPr>
            <p:spPr>
              <a:xfrm>
                <a:off x="3153226" y="2672102"/>
                <a:ext cx="6314276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buClr>
                    <a:schemeClr val="bg1"/>
                  </a:buClr>
                </a:pPr>
                <a:r>
                  <a:rPr lang="en-US" sz="3000" spc="-96" dirty="0">
                    <a:solidFill>
                      <a:schemeClr val="bg1"/>
                    </a:solidFill>
                    <a:latin typeface="Poppins SemiBold" panose="00000700000000000000" pitchFamily="2" charset="0"/>
                    <a:ea typeface="Open Sauce"/>
                    <a:cs typeface="Poppins SemiBold" panose="00000700000000000000" pitchFamily="2" charset="0"/>
                    <a:sym typeface="Open Sauce"/>
                  </a:rPr>
                  <a:t> :  React (UI for user interaction)</a:t>
                </a: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F135169C-BFE4-B915-D739-7E546D1B9DA3}"/>
                  </a:ext>
                </a:extLst>
              </p:cNvPr>
              <p:cNvSpPr/>
              <p:nvPr/>
            </p:nvSpPr>
            <p:spPr>
              <a:xfrm>
                <a:off x="642589" y="6346545"/>
                <a:ext cx="5598709" cy="609600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 dirty="0">
                    <a:solidFill>
                      <a:schemeClr val="tx1"/>
                    </a:solidFill>
                    <a:latin typeface="Calisto MT" panose="02040603050505030304" pitchFamily="18" charset="0"/>
                    <a:cs typeface="Poppins SemiBold" panose="00000700000000000000" pitchFamily="2" charset="0"/>
                  </a:rPr>
                  <a:t>Development Environment </a:t>
                </a:r>
              </a:p>
            </p:txBody>
          </p:sp>
          <p:sp>
            <p:nvSpPr>
              <p:cNvPr id="40" name="TextBox 20">
                <a:extLst>
                  <a:ext uri="{FF2B5EF4-FFF2-40B4-BE49-F238E27FC236}">
                    <a16:creationId xmlns:a16="http://schemas.microsoft.com/office/drawing/2014/main" id="{05583F2B-0E23-E351-41CB-19467878558B}"/>
                  </a:ext>
                </a:extLst>
              </p:cNvPr>
              <p:cNvSpPr txBox="1"/>
              <p:nvPr/>
            </p:nvSpPr>
            <p:spPr>
              <a:xfrm>
                <a:off x="3205612" y="4581591"/>
                <a:ext cx="10071889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buClr>
                    <a:schemeClr val="bg1"/>
                  </a:buClr>
                </a:pPr>
                <a:r>
                  <a:rPr lang="en-US" sz="3000" spc="-96" dirty="0">
                    <a:solidFill>
                      <a:schemeClr val="bg1"/>
                    </a:solidFill>
                    <a:latin typeface="Poppins SemiBold" panose="00000700000000000000" pitchFamily="2" charset="0"/>
                    <a:ea typeface="Open Sauce"/>
                    <a:cs typeface="Poppins SemiBold" panose="00000700000000000000" pitchFamily="2" charset="0"/>
                    <a:sym typeface="Open Sauce"/>
                  </a:rPr>
                  <a:t>:  YOLOv8 for vegetation, YOLOv11 for soil classification</a:t>
                </a:r>
              </a:p>
            </p:txBody>
          </p:sp>
          <p:sp>
            <p:nvSpPr>
              <p:cNvPr id="41" name="TextBox 20">
                <a:extLst>
                  <a:ext uri="{FF2B5EF4-FFF2-40B4-BE49-F238E27FC236}">
                    <a16:creationId xmlns:a16="http://schemas.microsoft.com/office/drawing/2014/main" id="{937E0E2E-34AE-30E4-9FD2-A59D10C88BBA}"/>
                  </a:ext>
                </a:extLst>
              </p:cNvPr>
              <p:cNvSpPr txBox="1"/>
              <p:nvPr/>
            </p:nvSpPr>
            <p:spPr>
              <a:xfrm>
                <a:off x="2976214" y="3655378"/>
                <a:ext cx="9920287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buClr>
                    <a:schemeClr val="bg1"/>
                  </a:buClr>
                </a:pPr>
                <a:r>
                  <a:rPr lang="en-US" sz="3000" spc="-96" dirty="0">
                    <a:solidFill>
                      <a:schemeClr val="bg1"/>
                    </a:solidFill>
                    <a:latin typeface="Poppins SemiBold" panose="00000700000000000000" pitchFamily="2" charset="0"/>
                    <a:ea typeface="Open Sauce"/>
                    <a:cs typeface="Poppins SemiBold" panose="00000700000000000000" pitchFamily="2" charset="0"/>
                    <a:sym typeface="Open Sauce"/>
                  </a:rPr>
                  <a:t> :  </a:t>
                </a:r>
                <a:r>
                  <a:rPr lang="en-US" sz="3000" spc="-96" dirty="0" err="1">
                    <a:solidFill>
                      <a:schemeClr val="bg1"/>
                    </a:solidFill>
                    <a:latin typeface="Poppins SemiBold" panose="00000700000000000000" pitchFamily="2" charset="0"/>
                    <a:ea typeface="Open Sauce"/>
                    <a:cs typeface="Poppins SemiBold" panose="00000700000000000000" pitchFamily="2" charset="0"/>
                    <a:sym typeface="Open Sauce"/>
                  </a:rPr>
                  <a:t>FastAPI</a:t>
                </a:r>
                <a:r>
                  <a:rPr lang="en-US" sz="3000" spc="-96" dirty="0">
                    <a:solidFill>
                      <a:schemeClr val="bg1"/>
                    </a:solidFill>
                    <a:latin typeface="Poppins SemiBold" panose="00000700000000000000" pitchFamily="2" charset="0"/>
                    <a:ea typeface="Open Sauce"/>
                    <a:cs typeface="Poppins SemiBold" panose="00000700000000000000" pitchFamily="2" charset="0"/>
                    <a:sym typeface="Open Sauce"/>
                  </a:rPr>
                  <a:t> (API for model serving and data handling)</a:t>
                </a:r>
              </a:p>
            </p:txBody>
          </p:sp>
          <p:sp>
            <p:nvSpPr>
              <p:cNvPr id="42" name="TextBox 20">
                <a:extLst>
                  <a:ext uri="{FF2B5EF4-FFF2-40B4-BE49-F238E27FC236}">
                    <a16:creationId xmlns:a16="http://schemas.microsoft.com/office/drawing/2014/main" id="{6E46F674-D094-D64F-D8AC-F05F6A17620F}"/>
                  </a:ext>
                </a:extLst>
              </p:cNvPr>
              <p:cNvSpPr txBox="1"/>
              <p:nvPr/>
            </p:nvSpPr>
            <p:spPr>
              <a:xfrm>
                <a:off x="6553200" y="6475545"/>
                <a:ext cx="9469492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en-US" sz="3000" spc="-96" dirty="0">
                    <a:solidFill>
                      <a:schemeClr val="bg1"/>
                    </a:solidFill>
                    <a:latin typeface="Poppins SemiBold" panose="00000700000000000000" pitchFamily="2" charset="0"/>
                    <a:ea typeface="Open Sauce"/>
                    <a:cs typeface="Poppins SemiBold" panose="00000700000000000000" pitchFamily="2" charset="0"/>
                    <a:sym typeface="Open Sauce"/>
                  </a:rPr>
                  <a:t>:  Google Colab (for training and experimentation)</a:t>
                </a:r>
              </a:p>
            </p:txBody>
          </p:sp>
          <p:sp>
            <p:nvSpPr>
              <p:cNvPr id="43" name="TextBox 20">
                <a:extLst>
                  <a:ext uri="{FF2B5EF4-FFF2-40B4-BE49-F238E27FC236}">
                    <a16:creationId xmlns:a16="http://schemas.microsoft.com/office/drawing/2014/main" id="{1CE77A88-3810-03F8-BE1D-ABC92A5D6651}"/>
                  </a:ext>
                </a:extLst>
              </p:cNvPr>
              <p:cNvSpPr txBox="1"/>
              <p:nvPr/>
            </p:nvSpPr>
            <p:spPr>
              <a:xfrm>
                <a:off x="3205612" y="5490617"/>
                <a:ext cx="2356639" cy="46166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en-US" sz="3000" spc="-96" dirty="0">
                    <a:solidFill>
                      <a:schemeClr val="bg1"/>
                    </a:solidFill>
                    <a:latin typeface="Poppins SemiBold" panose="00000700000000000000" pitchFamily="2" charset="0"/>
                    <a:ea typeface="Open Sauce"/>
                    <a:cs typeface="Poppins SemiBold" panose="00000700000000000000" pitchFamily="2" charset="0"/>
                    <a:sym typeface="Open Sauce"/>
                  </a:rPr>
                  <a:t>:  Python</a:t>
                </a:r>
                <a:r>
                  <a:rPr lang="en-US" sz="3000" spc="-96" dirty="0">
                    <a:solidFill>
                      <a:srgbClr val="00FFFF"/>
                    </a:solidFill>
                    <a:latin typeface="Poppins SemiBold" panose="00000700000000000000" pitchFamily="2" charset="0"/>
                    <a:ea typeface="Open Sauce"/>
                    <a:cs typeface="Poppins SemiBold" panose="00000700000000000000" pitchFamily="2" charset="0"/>
                    <a:sym typeface="Open Sauce"/>
                  </a:rPr>
                  <a:t>              </a:t>
                </a:r>
                <a:endParaRPr lang="en-US" sz="3000" spc="-96" dirty="0">
                  <a:solidFill>
                    <a:schemeClr val="bg1"/>
                  </a:solidFill>
                  <a:latin typeface="Poppins SemiBold" panose="00000700000000000000" pitchFamily="2" charset="0"/>
                  <a:ea typeface="Open Sauce"/>
                  <a:cs typeface="Poppins SemiBold" panose="00000700000000000000" pitchFamily="2" charset="0"/>
                  <a:sym typeface="Open Sauce"/>
                </a:endParaRP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9DE091D-6084-3AB0-1175-712C00350CF4}"/>
              </a:ext>
            </a:extLst>
          </p:cNvPr>
          <p:cNvGrpSpPr/>
          <p:nvPr/>
        </p:nvGrpSpPr>
        <p:grpSpPr>
          <a:xfrm rot="874683">
            <a:off x="11454572" y="594399"/>
            <a:ext cx="3695926" cy="3979438"/>
            <a:chOff x="6720490" y="2791446"/>
            <a:chExt cx="4227470" cy="4458327"/>
          </a:xfrm>
        </p:grpSpPr>
        <p:pic>
          <p:nvPicPr>
            <p:cNvPr id="6146" name="Picture 2" descr="Tech Stack Diagram Template | Figma">
              <a:extLst>
                <a:ext uri="{FF2B5EF4-FFF2-40B4-BE49-F238E27FC236}">
                  <a16:creationId xmlns:a16="http://schemas.microsoft.com/office/drawing/2014/main" id="{55608613-ECA1-E346-60FF-D0071A3915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101" t="14470" r="35100" b="16063"/>
            <a:stretch>
              <a:fillRect/>
            </a:stretch>
          </p:blipFill>
          <p:spPr bwMode="auto">
            <a:xfrm>
              <a:off x="7122968" y="2791446"/>
              <a:ext cx="3824992" cy="445832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FFE164AB-8772-3BEC-632A-A6C97D666590}"/>
                </a:ext>
              </a:extLst>
            </p:cNvPr>
            <p:cNvSpPr/>
            <p:nvPr/>
          </p:nvSpPr>
          <p:spPr>
            <a:xfrm rot="20725317">
              <a:off x="6720490" y="2960732"/>
              <a:ext cx="709171" cy="709171"/>
            </a:xfrm>
            <a:custGeom>
              <a:avLst/>
              <a:gdLst/>
              <a:ahLst/>
              <a:cxnLst/>
              <a:rect l="l" t="t" r="r" b="b"/>
              <a:pathLst>
                <a:path w="709171" h="709171">
                  <a:moveTo>
                    <a:pt x="0" y="0"/>
                  </a:moveTo>
                  <a:lnTo>
                    <a:pt x="709171" y="0"/>
                  </a:lnTo>
                  <a:lnTo>
                    <a:pt x="709171" y="709171"/>
                  </a:lnTo>
                  <a:lnTo>
                    <a:pt x="0" y="709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2AECB21-A362-8C09-4F23-AAF4980A997E}"/>
              </a:ext>
            </a:extLst>
          </p:cNvPr>
          <p:cNvGrpSpPr/>
          <p:nvPr/>
        </p:nvGrpSpPr>
        <p:grpSpPr>
          <a:xfrm>
            <a:off x="18579099" y="495300"/>
            <a:ext cx="6566901" cy="7933099"/>
            <a:chOff x="11896905" y="1982487"/>
            <a:chExt cx="6566901" cy="79330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BA7A630-450D-DF3B-9599-A11AB2A79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25000"/>
                      </a14:imgEffect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1067702">
              <a:off x="11896905" y="1982487"/>
              <a:ext cx="4117053" cy="411705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19B7E84-D9A3-19E9-F5BC-240DEF5BA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sharpenSoften amount="25000"/>
                      </a14:imgEffect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840691">
              <a:off x="14149791" y="5601571"/>
              <a:ext cx="4314015" cy="431401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5" name="Freeform 18">
              <a:extLst>
                <a:ext uri="{FF2B5EF4-FFF2-40B4-BE49-F238E27FC236}">
                  <a16:creationId xmlns:a16="http://schemas.microsoft.com/office/drawing/2014/main" id="{51096219-96BC-3844-F65F-A229CDFCBD1E}"/>
                </a:ext>
              </a:extLst>
            </p:cNvPr>
            <p:cNvSpPr/>
            <p:nvPr/>
          </p:nvSpPr>
          <p:spPr>
            <a:xfrm>
              <a:off x="16154400" y="5143500"/>
              <a:ext cx="620003" cy="632996"/>
            </a:xfrm>
            <a:custGeom>
              <a:avLst/>
              <a:gdLst/>
              <a:ahLst/>
              <a:cxnLst/>
              <a:rect l="l" t="t" r="r" b="b"/>
              <a:pathLst>
                <a:path w="709171" h="709171">
                  <a:moveTo>
                    <a:pt x="0" y="0"/>
                  </a:moveTo>
                  <a:lnTo>
                    <a:pt x="709171" y="0"/>
                  </a:lnTo>
                  <a:lnTo>
                    <a:pt x="709171" y="709171"/>
                  </a:lnTo>
                  <a:lnTo>
                    <a:pt x="0" y="709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07C7DC7-9F16-E293-ACAC-A235AD85FB7A}"/>
              </a:ext>
            </a:extLst>
          </p:cNvPr>
          <p:cNvGrpSpPr/>
          <p:nvPr/>
        </p:nvGrpSpPr>
        <p:grpSpPr>
          <a:xfrm rot="1360385">
            <a:off x="13806529" y="5783219"/>
            <a:ext cx="3816898" cy="4038474"/>
            <a:chOff x="12143776" y="2637223"/>
            <a:chExt cx="5960369" cy="66189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C055A7-6CD3-D276-A736-C933D3AD489D}"/>
                </a:ext>
              </a:extLst>
            </p:cNvPr>
            <p:cNvGrpSpPr/>
            <p:nvPr/>
          </p:nvGrpSpPr>
          <p:grpSpPr>
            <a:xfrm rot="21065764">
              <a:off x="12143776" y="2637223"/>
              <a:ext cx="5960369" cy="5960368"/>
              <a:chOff x="9367829" y="2805425"/>
              <a:chExt cx="5960369" cy="5960368"/>
            </a:xfrm>
            <a:effectLst/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EE0B20C-1C93-FF35-D077-6321AED4BE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harpenSoften amount="25000"/>
                        </a14:imgEffect>
                        <a14:imgEffect>
                          <a14:brightnessContrast bright="20000" contrast="-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9367830" y="2805425"/>
                <a:ext cx="5960368" cy="5960368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1C0D2ED1-E150-6290-D232-5FE5C4F9B4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25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rcRect b="9933"/>
              <a:stretch>
                <a:fillRect/>
              </a:stretch>
            </p:blipFill>
            <p:spPr>
              <a:xfrm>
                <a:off x="9367829" y="2805427"/>
                <a:ext cx="2823766" cy="2619295"/>
              </a:xfrm>
              <a:prstGeom prst="roundRect">
                <a:avLst>
                  <a:gd name="adj" fmla="val 6330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</p:grpSp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77FD1F4E-8BE4-4A14-568C-1DDEFBD8BE6B}"/>
                </a:ext>
              </a:extLst>
            </p:cNvPr>
            <p:cNvSpPr/>
            <p:nvPr/>
          </p:nvSpPr>
          <p:spPr>
            <a:xfrm>
              <a:off x="15316200" y="8500811"/>
              <a:ext cx="755352" cy="755352"/>
            </a:xfrm>
            <a:custGeom>
              <a:avLst/>
              <a:gdLst/>
              <a:ahLst/>
              <a:cxnLst/>
              <a:rect l="l" t="t" r="r" b="b"/>
              <a:pathLst>
                <a:path w="755352" h="755352">
                  <a:moveTo>
                    <a:pt x="0" y="0"/>
                  </a:moveTo>
                  <a:lnTo>
                    <a:pt x="755352" y="0"/>
                  </a:lnTo>
                  <a:lnTo>
                    <a:pt x="755352" y="755352"/>
                  </a:lnTo>
                  <a:lnTo>
                    <a:pt x="0" y="755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4638411" y="9029700"/>
            <a:ext cx="476779" cy="119195"/>
          </a:xfrm>
          <a:custGeom>
            <a:avLst/>
            <a:gdLst/>
            <a:ahLst/>
            <a:cxnLst/>
            <a:rect l="l" t="t" r="r" b="b"/>
            <a:pathLst>
              <a:path w="476779" h="119195">
                <a:moveTo>
                  <a:pt x="0" y="0"/>
                </a:moveTo>
                <a:lnTo>
                  <a:pt x="476779" y="0"/>
                </a:lnTo>
                <a:lnTo>
                  <a:pt x="476779" y="119195"/>
                </a:lnTo>
                <a:lnTo>
                  <a:pt x="0" y="1191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10">
            <a:extLst>
              <a:ext uri="{FF2B5EF4-FFF2-40B4-BE49-F238E27FC236}">
                <a16:creationId xmlns:a16="http://schemas.microsoft.com/office/drawing/2014/main" id="{168A9C50-9E02-E919-604E-D8870A1B4C60}"/>
              </a:ext>
            </a:extLst>
          </p:cNvPr>
          <p:cNvSpPr txBox="1"/>
          <p:nvPr/>
        </p:nvSpPr>
        <p:spPr>
          <a:xfrm>
            <a:off x="1151564" y="766316"/>
            <a:ext cx="1280862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000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Vegetation Detection (</a:t>
            </a:r>
            <a:r>
              <a:rPr lang="en-US" sz="6000" b="1" dirty="0">
                <a:solidFill>
                  <a:srgbClr val="C1FF72"/>
                </a:solidFill>
                <a:latin typeface="Calisto MT" panose="02040603050505030304" pitchFamily="18" charset="0"/>
                <a:ea typeface="Bicubik"/>
                <a:cs typeface="Poppins ExtraBold" panose="00000900000000000000" pitchFamily="2" charset="0"/>
                <a:sym typeface="Bicubik"/>
              </a:rPr>
              <a:t>YOLOv8</a:t>
            </a:r>
            <a:r>
              <a:rPr lang="en-US" sz="6000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)</a:t>
            </a:r>
          </a:p>
        </p:txBody>
      </p:sp>
      <p:sp>
        <p:nvSpPr>
          <p:cNvPr id="48" name="TextBox 20">
            <a:extLst>
              <a:ext uri="{FF2B5EF4-FFF2-40B4-BE49-F238E27FC236}">
                <a16:creationId xmlns:a16="http://schemas.microsoft.com/office/drawing/2014/main" id="{3F48DF0D-F8F3-B4DC-1C1B-B8E243D94245}"/>
              </a:ext>
            </a:extLst>
          </p:cNvPr>
          <p:cNvSpPr txBox="1"/>
          <p:nvPr/>
        </p:nvSpPr>
        <p:spPr>
          <a:xfrm>
            <a:off x="1269438" y="2882354"/>
            <a:ext cx="10896600" cy="5309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6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spc="-96" dirty="0">
                <a:solidFill>
                  <a:srgbClr val="00FFFF"/>
                </a:solidFill>
                <a:latin typeface="Algerian" panose="04020705040A02060702" pitchFamily="82" charset="0"/>
                <a:ea typeface="Open Sauce"/>
                <a:cs typeface="Poppins SemiBold" panose="00000700000000000000" pitchFamily="2" charset="0"/>
                <a:sym typeface="Open Sauce"/>
              </a:rPr>
              <a:t>Model Used: 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YOLOv8 (</a:t>
            </a:r>
            <a:r>
              <a:rPr lang="en-US" sz="3000" spc="-96" dirty="0" err="1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Ultralytics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)</a:t>
            </a:r>
          </a:p>
          <a:p>
            <a:pPr algn="l">
              <a:lnSpc>
                <a:spcPts val="36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6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spc="-96" dirty="0">
                <a:solidFill>
                  <a:srgbClr val="00FFFF"/>
                </a:solidFill>
                <a:latin typeface="Algerian" panose="04020705040A02060702" pitchFamily="82" charset="0"/>
                <a:ea typeface="Open Sauce"/>
                <a:cs typeface="Poppins SemiBold" panose="00000700000000000000" pitchFamily="2" charset="0"/>
                <a:sym typeface="Open Sauce"/>
              </a:rPr>
              <a:t>Class: 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1 (Vegetation)</a:t>
            </a:r>
          </a:p>
          <a:p>
            <a:pPr algn="l">
              <a:lnSpc>
                <a:spcPts val="36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6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spc="-96" dirty="0">
                <a:solidFill>
                  <a:srgbClr val="00FFFF"/>
                </a:solidFill>
                <a:latin typeface="Algerian" panose="04020705040A02060702" pitchFamily="82" charset="0"/>
                <a:ea typeface="Open Sauce"/>
                <a:cs typeface="Poppins SemiBold" panose="00000700000000000000" pitchFamily="2" charset="0"/>
                <a:sym typeface="Open Sauce"/>
              </a:rPr>
              <a:t>Features:</a:t>
            </a:r>
          </a:p>
          <a:p>
            <a:pPr marL="914400" lvl="1" indent="-457200">
              <a:lnSpc>
                <a:spcPts val="36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Lightweight and fast</a:t>
            </a:r>
          </a:p>
          <a:p>
            <a:pPr marL="914400" lvl="1" indent="-457200">
              <a:lnSpc>
                <a:spcPts val="36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Ideal for single-class detection</a:t>
            </a:r>
          </a:p>
          <a:p>
            <a:pPr algn="l">
              <a:lnSpc>
                <a:spcPts val="36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6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spc="-96" dirty="0">
                <a:solidFill>
                  <a:srgbClr val="00FFFF"/>
                </a:solidFill>
                <a:latin typeface="Algerian" panose="04020705040A02060702" pitchFamily="82" charset="0"/>
                <a:ea typeface="Open Sauce"/>
                <a:cs typeface="Poppins SemiBold" panose="00000700000000000000" pitchFamily="2" charset="0"/>
                <a:sym typeface="Open Sauce"/>
              </a:rPr>
              <a:t>Output: 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Bounding boxes showing vegetation coverage</a:t>
            </a:r>
          </a:p>
          <a:p>
            <a:pPr algn="l">
              <a:lnSpc>
                <a:spcPts val="36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6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spc="-96" dirty="0">
                <a:solidFill>
                  <a:srgbClr val="00FFFF"/>
                </a:solidFill>
                <a:latin typeface="Algerian" panose="04020705040A02060702" pitchFamily="82" charset="0"/>
                <a:ea typeface="Open Sauce"/>
                <a:cs typeface="Poppins SemiBold" panose="00000700000000000000" pitchFamily="2" charset="0"/>
                <a:sym typeface="Open Sauce"/>
              </a:rPr>
              <a:t>Result: 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High accuracy and rapid inference time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9E4F762-BC45-76F9-8BA1-86AFE67FF95C}"/>
              </a:ext>
            </a:extLst>
          </p:cNvPr>
          <p:cNvGrpSpPr/>
          <p:nvPr/>
        </p:nvGrpSpPr>
        <p:grpSpPr>
          <a:xfrm>
            <a:off x="11353800" y="1982487"/>
            <a:ext cx="6566901" cy="7933099"/>
            <a:chOff x="11896905" y="1982487"/>
            <a:chExt cx="6566901" cy="7933099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FE73EE5-1600-3F10-21F8-C5255D8D7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25000"/>
                      </a14:imgEffect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21067702">
              <a:off x="11896905" y="1982487"/>
              <a:ext cx="4117053" cy="4117053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756CD72-0122-C83D-C086-F93016A89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25000"/>
                      </a14:imgEffect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840691">
              <a:off x="14149791" y="5601571"/>
              <a:ext cx="4314015" cy="431401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EAED1EF2-C8B6-F92B-7763-1CB617C535E7}"/>
                </a:ext>
              </a:extLst>
            </p:cNvPr>
            <p:cNvSpPr/>
            <p:nvPr/>
          </p:nvSpPr>
          <p:spPr>
            <a:xfrm>
              <a:off x="16154400" y="5143500"/>
              <a:ext cx="620003" cy="632996"/>
            </a:xfrm>
            <a:custGeom>
              <a:avLst/>
              <a:gdLst/>
              <a:ahLst/>
              <a:cxnLst/>
              <a:rect l="l" t="t" r="r" b="b"/>
              <a:pathLst>
                <a:path w="709171" h="709171">
                  <a:moveTo>
                    <a:pt x="0" y="0"/>
                  </a:moveTo>
                  <a:lnTo>
                    <a:pt x="709171" y="0"/>
                  </a:lnTo>
                  <a:lnTo>
                    <a:pt x="709171" y="709171"/>
                  </a:lnTo>
                  <a:lnTo>
                    <a:pt x="0" y="709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59E2EF0-3A7B-6E84-F6A6-7BE6D765626B}"/>
              </a:ext>
            </a:extLst>
          </p:cNvPr>
          <p:cNvGrpSpPr/>
          <p:nvPr/>
        </p:nvGrpSpPr>
        <p:grpSpPr>
          <a:xfrm>
            <a:off x="12283577" y="3709608"/>
            <a:ext cx="5819569" cy="3686773"/>
            <a:chOff x="11473005" y="4971148"/>
            <a:chExt cx="6290498" cy="4163947"/>
          </a:xfrm>
        </p:grpSpPr>
        <p:pic>
          <p:nvPicPr>
            <p:cNvPr id="3" name="Picture 5" descr="AI Integration into Legacy Systems - Instandart">
              <a:extLst>
                <a:ext uri="{FF2B5EF4-FFF2-40B4-BE49-F238E27FC236}">
                  <a16:creationId xmlns:a16="http://schemas.microsoft.com/office/drawing/2014/main" id="{B6807265-37C9-145F-864B-C2D0B2D94D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171868">
              <a:off x="11473005" y="5596690"/>
              <a:ext cx="6290498" cy="353840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4" name="Freeform 27">
              <a:extLst>
                <a:ext uri="{FF2B5EF4-FFF2-40B4-BE49-F238E27FC236}">
                  <a16:creationId xmlns:a16="http://schemas.microsoft.com/office/drawing/2014/main" id="{F87663E2-5DB1-C1D3-4302-20669AF1ACEB}"/>
                </a:ext>
              </a:extLst>
            </p:cNvPr>
            <p:cNvSpPr/>
            <p:nvPr/>
          </p:nvSpPr>
          <p:spPr>
            <a:xfrm>
              <a:off x="16668174" y="4971148"/>
              <a:ext cx="695950" cy="685800"/>
            </a:xfrm>
            <a:custGeom>
              <a:avLst/>
              <a:gdLst/>
              <a:ahLst/>
              <a:cxnLst/>
              <a:rect l="l" t="t" r="r" b="b"/>
              <a:pathLst>
                <a:path w="934700" h="934700">
                  <a:moveTo>
                    <a:pt x="0" y="0"/>
                  </a:moveTo>
                  <a:lnTo>
                    <a:pt x="934699" y="0"/>
                  </a:lnTo>
                  <a:lnTo>
                    <a:pt x="934699" y="934700"/>
                  </a:lnTo>
                  <a:lnTo>
                    <a:pt x="0" y="93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5105400" y="9298454"/>
            <a:ext cx="476779" cy="119195"/>
          </a:xfrm>
          <a:custGeom>
            <a:avLst/>
            <a:gdLst/>
            <a:ahLst/>
            <a:cxnLst/>
            <a:rect l="l" t="t" r="r" b="b"/>
            <a:pathLst>
              <a:path w="476779" h="119195">
                <a:moveTo>
                  <a:pt x="0" y="0"/>
                </a:moveTo>
                <a:lnTo>
                  <a:pt x="476779" y="0"/>
                </a:lnTo>
                <a:lnTo>
                  <a:pt x="476779" y="119195"/>
                </a:lnTo>
                <a:lnTo>
                  <a:pt x="0" y="1191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1F148254-670D-3C05-7578-FA0B8FCB8C97}"/>
              </a:ext>
            </a:extLst>
          </p:cNvPr>
          <p:cNvSpPr txBox="1"/>
          <p:nvPr/>
        </p:nvSpPr>
        <p:spPr>
          <a:xfrm>
            <a:off x="1051563" y="928948"/>
            <a:ext cx="1066685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000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Soil Detection (</a:t>
            </a:r>
            <a:r>
              <a:rPr lang="en-US" sz="6000" b="1" dirty="0">
                <a:solidFill>
                  <a:srgbClr val="C1FF72"/>
                </a:solidFill>
                <a:latin typeface="Calisto MT" panose="02040603050505030304" pitchFamily="18" charset="0"/>
                <a:ea typeface="Bicubik"/>
                <a:cs typeface="Poppins ExtraBold" panose="00000900000000000000" pitchFamily="2" charset="0"/>
                <a:sym typeface="Bicubik"/>
              </a:rPr>
              <a:t>YOLOv11</a:t>
            </a:r>
            <a:r>
              <a:rPr lang="en-US" sz="6000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)</a:t>
            </a: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21939038-3E38-79C2-ED4D-A118B882F402}"/>
              </a:ext>
            </a:extLst>
          </p:cNvPr>
          <p:cNvSpPr txBox="1"/>
          <p:nvPr/>
        </p:nvSpPr>
        <p:spPr>
          <a:xfrm>
            <a:off x="1146398" y="2655057"/>
            <a:ext cx="10846362" cy="5924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6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spc="-96" dirty="0">
                <a:solidFill>
                  <a:srgbClr val="00FFFF"/>
                </a:solidFill>
                <a:latin typeface="Algerian" panose="04020705040A02060702" pitchFamily="82" charset="0"/>
                <a:ea typeface="Open Sauce"/>
                <a:cs typeface="Poppins SemiBold" panose="00000700000000000000" pitchFamily="2" charset="0"/>
                <a:sym typeface="Open Sauce"/>
              </a:rPr>
              <a:t>Model Used: 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YOLOv11</a:t>
            </a:r>
          </a:p>
          <a:p>
            <a:pPr algn="l">
              <a:lnSpc>
                <a:spcPts val="36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6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spc="-96" dirty="0">
                <a:solidFill>
                  <a:srgbClr val="00FFFF"/>
                </a:solidFill>
                <a:latin typeface="Algerian" panose="04020705040A02060702" pitchFamily="82" charset="0"/>
                <a:ea typeface="Open Sauce"/>
                <a:cs typeface="Poppins SemiBold" panose="00000700000000000000" pitchFamily="2" charset="0"/>
                <a:sym typeface="Open Sauce"/>
              </a:rPr>
              <a:t>Classes (4):</a:t>
            </a: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lvl="1">
              <a:lnSpc>
                <a:spcPts val="3600"/>
              </a:lnSpc>
              <a:buClr>
                <a:schemeClr val="bg1"/>
              </a:buClr>
            </a:pPr>
            <a:r>
              <a:rPr lang="en-US" sz="3000" b="1" spc="-96" dirty="0">
                <a:solidFill>
                  <a:schemeClr val="bg1"/>
                </a:solidFill>
                <a:latin typeface="Times New Roman" panose="02020603050405020304" pitchFamily="18" charset="0"/>
                <a:ea typeface="Open Sauce"/>
                <a:cs typeface="Times New Roman" panose="02020603050405020304" pitchFamily="18" charset="0"/>
                <a:sym typeface="Open Sauce"/>
              </a:rPr>
              <a:t>1.  Red Soil,   2.  Clay Soil,   3.  Black Soil   4.   Alluvial Soil</a:t>
            </a:r>
          </a:p>
          <a:p>
            <a:pPr algn="l">
              <a:lnSpc>
                <a:spcPts val="36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600"/>
              </a:lnSpc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spc="-96" dirty="0">
                <a:solidFill>
                  <a:srgbClr val="00FFFF"/>
                </a:solidFill>
                <a:latin typeface="Algerian" panose="04020705040A02060702" pitchFamily="82" charset="0"/>
                <a:ea typeface="Open Sauce"/>
                <a:cs typeface="Poppins SemiBold" panose="00000700000000000000" pitchFamily="2" charset="0"/>
                <a:sym typeface="Open Sauce"/>
              </a:rPr>
              <a:t>Training Details:</a:t>
            </a:r>
          </a:p>
          <a:p>
            <a:pPr marL="914400" lvl="1" indent="-457200">
              <a:lnSpc>
                <a:spcPts val="36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Image size : 640×640</a:t>
            </a:r>
          </a:p>
          <a:p>
            <a:pPr marL="914400" lvl="1" indent="-457200">
              <a:lnSpc>
                <a:spcPts val="36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Custom dataset organized by soil types</a:t>
            </a:r>
          </a:p>
          <a:p>
            <a:pPr marL="914400" lvl="1" indent="-457200">
              <a:lnSpc>
                <a:spcPts val="36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Metrics : Precision, Recall, F1 Score, </a:t>
            </a:r>
            <a:r>
              <a:rPr lang="en-US" sz="3000" spc="-96" dirty="0" err="1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mAP</a:t>
            </a: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algn="l">
              <a:lnSpc>
                <a:spcPts val="36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600"/>
              </a:lnSpc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3200" spc="-96" dirty="0">
                <a:solidFill>
                  <a:srgbClr val="00FFFF"/>
                </a:solidFill>
                <a:latin typeface="Algerian" panose="04020705040A02060702" pitchFamily="82" charset="0"/>
                <a:ea typeface="Open Sauce"/>
                <a:cs typeface="Poppins SemiBold" panose="00000700000000000000" pitchFamily="2" charset="0"/>
                <a:sym typeface="Open Sauce"/>
              </a:rPr>
              <a:t>Output: 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Bounding boxes identifying different soil regions with color-coded labels (e.g., red, clay, black, alluvial)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895231E-B0A8-B27F-744E-C744BD5E7FC8}"/>
              </a:ext>
            </a:extLst>
          </p:cNvPr>
          <p:cNvGrpSpPr/>
          <p:nvPr/>
        </p:nvGrpSpPr>
        <p:grpSpPr>
          <a:xfrm rot="244695">
            <a:off x="12120068" y="2797867"/>
            <a:ext cx="5960369" cy="6476992"/>
            <a:chOff x="12143776" y="2637223"/>
            <a:chExt cx="5960369" cy="647699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40D779F-309C-09A4-A9F6-2FCDB4DAAE4C}"/>
                </a:ext>
              </a:extLst>
            </p:cNvPr>
            <p:cNvGrpSpPr/>
            <p:nvPr/>
          </p:nvGrpSpPr>
          <p:grpSpPr>
            <a:xfrm rot="21065764">
              <a:off x="12143776" y="2637223"/>
              <a:ext cx="5960369" cy="5960368"/>
              <a:chOff x="9367829" y="2805425"/>
              <a:chExt cx="5960369" cy="5960368"/>
            </a:xfrm>
            <a:effectLst/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62179DED-1C23-FFFB-5294-ED5AA7953B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harpenSoften amount="25000"/>
                        </a14:imgEffect>
                        <a14:imgEffect>
                          <a14:brightnessContrast bright="20000" contrast="-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9367830" y="2805425"/>
                <a:ext cx="5960368" cy="5960368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79331202-C04B-B2C0-5A52-EF965808D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sharpenSoften amount="25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rcRect b="9933"/>
              <a:stretch>
                <a:fillRect/>
              </a:stretch>
            </p:blipFill>
            <p:spPr>
              <a:xfrm>
                <a:off x="9367829" y="2805427"/>
                <a:ext cx="2823766" cy="2619295"/>
              </a:xfrm>
              <a:prstGeom prst="roundRect">
                <a:avLst>
                  <a:gd name="adj" fmla="val 6330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</p:grpSp>
        <p:sp>
          <p:nvSpPr>
            <p:cNvPr id="24" name="Freeform 24"/>
            <p:cNvSpPr/>
            <p:nvPr/>
          </p:nvSpPr>
          <p:spPr>
            <a:xfrm rot="21099105">
              <a:off x="15306080" y="8358863"/>
              <a:ext cx="755352" cy="755352"/>
            </a:xfrm>
            <a:custGeom>
              <a:avLst/>
              <a:gdLst/>
              <a:ahLst/>
              <a:cxnLst/>
              <a:rect l="l" t="t" r="r" b="b"/>
              <a:pathLst>
                <a:path w="755352" h="755352">
                  <a:moveTo>
                    <a:pt x="0" y="0"/>
                  </a:moveTo>
                  <a:lnTo>
                    <a:pt x="755352" y="0"/>
                  </a:lnTo>
                  <a:lnTo>
                    <a:pt x="755352" y="755352"/>
                  </a:lnTo>
                  <a:lnTo>
                    <a:pt x="0" y="755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D41F466-1863-69E8-248F-193FE707171A}"/>
              </a:ext>
            </a:extLst>
          </p:cNvPr>
          <p:cNvGrpSpPr/>
          <p:nvPr/>
        </p:nvGrpSpPr>
        <p:grpSpPr>
          <a:xfrm rot="20616465">
            <a:off x="13111315" y="5950574"/>
            <a:ext cx="2377570" cy="3041431"/>
            <a:chOff x="13930682" y="5372100"/>
            <a:chExt cx="3557219" cy="440276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068494-48D6-5AFD-FDEB-E7E3E6329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  <a14:imgEffect>
                        <a14:saturation sat="40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03830">
              <a:off x="13930682" y="5552694"/>
              <a:ext cx="3370247" cy="422217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4" name="Freeform 27">
              <a:extLst>
                <a:ext uri="{FF2B5EF4-FFF2-40B4-BE49-F238E27FC236}">
                  <a16:creationId xmlns:a16="http://schemas.microsoft.com/office/drawing/2014/main" id="{66EF1F8C-414C-1FA6-A0A7-F9B00D8D66A5}"/>
                </a:ext>
              </a:extLst>
            </p:cNvPr>
            <p:cNvSpPr/>
            <p:nvPr/>
          </p:nvSpPr>
          <p:spPr>
            <a:xfrm rot="262789">
              <a:off x="16721138" y="5372100"/>
              <a:ext cx="766763" cy="725150"/>
            </a:xfrm>
            <a:custGeom>
              <a:avLst/>
              <a:gdLst/>
              <a:ahLst/>
              <a:cxnLst/>
              <a:rect l="l" t="t" r="r" b="b"/>
              <a:pathLst>
                <a:path w="934700" h="934700">
                  <a:moveTo>
                    <a:pt x="0" y="0"/>
                  </a:moveTo>
                  <a:lnTo>
                    <a:pt x="934699" y="0"/>
                  </a:lnTo>
                  <a:lnTo>
                    <a:pt x="934699" y="934700"/>
                  </a:lnTo>
                  <a:lnTo>
                    <a:pt x="0" y="93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4495800" y="8953500"/>
            <a:ext cx="476779" cy="119195"/>
          </a:xfrm>
          <a:custGeom>
            <a:avLst/>
            <a:gdLst/>
            <a:ahLst/>
            <a:cxnLst/>
            <a:rect l="l" t="t" r="r" b="b"/>
            <a:pathLst>
              <a:path w="476779" h="119195">
                <a:moveTo>
                  <a:pt x="0" y="0"/>
                </a:moveTo>
                <a:lnTo>
                  <a:pt x="476779" y="0"/>
                </a:lnTo>
                <a:lnTo>
                  <a:pt x="476779" y="119195"/>
                </a:lnTo>
                <a:lnTo>
                  <a:pt x="0" y="1191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16A7DA6A-15B9-6897-3238-C981A895CABE}"/>
              </a:ext>
            </a:extLst>
          </p:cNvPr>
          <p:cNvSpPr txBox="1"/>
          <p:nvPr/>
        </p:nvSpPr>
        <p:spPr>
          <a:xfrm>
            <a:off x="1267089" y="1028700"/>
            <a:ext cx="6179230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600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Integration</a:t>
            </a: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5AB420B1-3490-6BA9-A1E4-36BF25004394}"/>
              </a:ext>
            </a:extLst>
          </p:cNvPr>
          <p:cNvSpPr txBox="1"/>
          <p:nvPr/>
        </p:nvSpPr>
        <p:spPr>
          <a:xfrm>
            <a:off x="1267089" y="3112879"/>
            <a:ext cx="12982311" cy="44422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q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Models deployed on </a:t>
            </a:r>
            <a:r>
              <a:rPr lang="en-US" sz="3000" spc="-96" dirty="0" err="1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FastAPI</a:t>
            </a: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 backend for inference.</a:t>
            </a: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q"/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q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React Dashboard visualizes detection results with map overlays.</a:t>
            </a: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q"/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q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Option to upload new images for prediction.</a:t>
            </a: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q"/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>
              <a:lnSpc>
                <a:spcPts val="4000"/>
              </a:lnSpc>
              <a:buFont typeface="Wingdings" panose="05000000000000000000" pitchFamily="2" charset="2"/>
              <a:buChar char="q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The system supports modular endpoints —                                                                    one for vegetation detection and another for                                                          soil detection.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A688A46-9740-8CCD-0AD1-180BAA9C65BF}"/>
              </a:ext>
            </a:extLst>
          </p:cNvPr>
          <p:cNvGrpSpPr/>
          <p:nvPr/>
        </p:nvGrpSpPr>
        <p:grpSpPr>
          <a:xfrm rot="188830">
            <a:off x="11104150" y="5008237"/>
            <a:ext cx="6290498" cy="4163947"/>
            <a:chOff x="11473005" y="4971148"/>
            <a:chExt cx="6290498" cy="4163947"/>
          </a:xfrm>
        </p:grpSpPr>
        <p:pic>
          <p:nvPicPr>
            <p:cNvPr id="12293" name="Picture 5" descr="AI Integration into Legacy Systems - Instandart">
              <a:extLst>
                <a:ext uri="{FF2B5EF4-FFF2-40B4-BE49-F238E27FC236}">
                  <a16:creationId xmlns:a16="http://schemas.microsoft.com/office/drawing/2014/main" id="{37607B26-6A2F-633F-C2E5-A0EAEDDAA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171868">
              <a:off x="11473005" y="5596690"/>
              <a:ext cx="6290498" cy="353840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B1C5CF19-EFF2-EA9D-FAF1-C984A3611AA6}"/>
                </a:ext>
              </a:extLst>
            </p:cNvPr>
            <p:cNvSpPr/>
            <p:nvPr/>
          </p:nvSpPr>
          <p:spPr>
            <a:xfrm rot="21156781">
              <a:off x="16668174" y="4971148"/>
              <a:ext cx="695950" cy="685800"/>
            </a:xfrm>
            <a:custGeom>
              <a:avLst/>
              <a:gdLst/>
              <a:ahLst/>
              <a:cxnLst/>
              <a:rect l="l" t="t" r="r" b="b"/>
              <a:pathLst>
                <a:path w="934700" h="934700">
                  <a:moveTo>
                    <a:pt x="0" y="0"/>
                  </a:moveTo>
                  <a:lnTo>
                    <a:pt x="934699" y="0"/>
                  </a:lnTo>
                  <a:lnTo>
                    <a:pt x="934699" y="934700"/>
                  </a:lnTo>
                  <a:lnTo>
                    <a:pt x="0" y="93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42BE62-2747-9696-7EC1-F3187C84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10">
            <a:extLst>
              <a:ext uri="{FF2B5EF4-FFF2-40B4-BE49-F238E27FC236}">
                <a16:creationId xmlns:a16="http://schemas.microsoft.com/office/drawing/2014/main" id="{4E57820E-6CD5-D36C-1916-31DE7D0A6EB3}"/>
              </a:ext>
            </a:extLst>
          </p:cNvPr>
          <p:cNvSpPr txBox="1"/>
          <p:nvPr/>
        </p:nvSpPr>
        <p:spPr>
          <a:xfrm>
            <a:off x="1600200" y="876300"/>
            <a:ext cx="8289017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6400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Evaluation Metrics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E80E10-5DBB-F87A-65C1-7C42BA70D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668190"/>
              </p:ext>
            </p:extLst>
          </p:nvPr>
        </p:nvGraphicFramePr>
        <p:xfrm>
          <a:off x="1566862" y="2628900"/>
          <a:ext cx="13139738" cy="3977480"/>
        </p:xfrm>
        <a:graphic>
          <a:graphicData uri="http://schemas.openxmlformats.org/drawingml/2006/table">
            <a:tbl>
              <a:tblPr>
                <a:effectLst>
                  <a:reflection blurRad="6350" stA="52000" endA="300" endPos="35000" dir="5400000" sy="-100000" algn="bl" rotWithShape="0"/>
                </a:effectLst>
                <a:tableStyleId>{793D81CF-94F2-401A-BA57-92F5A7B2D0C5}</a:tableStyleId>
              </a:tblPr>
              <a:tblGrid>
                <a:gridCol w="3081338">
                  <a:extLst>
                    <a:ext uri="{9D8B030D-6E8A-4147-A177-3AD203B41FA5}">
                      <a16:colId xmlns:a16="http://schemas.microsoft.com/office/drawing/2014/main" val="906756056"/>
                    </a:ext>
                  </a:extLst>
                </a:gridCol>
                <a:gridCol w="5791200">
                  <a:extLst>
                    <a:ext uri="{9D8B030D-6E8A-4147-A177-3AD203B41FA5}">
                      <a16:colId xmlns:a16="http://schemas.microsoft.com/office/drawing/2014/main" val="2128673267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481712551"/>
                    </a:ext>
                  </a:extLst>
                </a:gridCol>
              </a:tblGrid>
              <a:tr h="795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600" b="1" dirty="0">
                          <a:latin typeface="Poppins ExtraBold" panose="00000900000000000000" pitchFamily="2" charset="0"/>
                          <a:cs typeface="Poppins ExtraBold" panose="00000900000000000000" pitchFamily="2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600" b="1" dirty="0">
                          <a:latin typeface="Poppins ExtraBold" panose="00000900000000000000" pitchFamily="2" charset="0"/>
                          <a:cs typeface="Poppins ExtraBold" panose="00000900000000000000" pitchFamily="2" charset="0"/>
                        </a:rPr>
                        <a:t>Vegetation (</a:t>
                      </a:r>
                      <a:r>
                        <a:rPr lang="en-IN" sz="3600" b="1" dirty="0">
                          <a:latin typeface="Calisto MT" panose="02040603050505030304" pitchFamily="18" charset="0"/>
                          <a:cs typeface="Poppins ExtraBold" panose="00000900000000000000" pitchFamily="2" charset="0"/>
                        </a:rPr>
                        <a:t>YOLOv8</a:t>
                      </a:r>
                      <a:r>
                        <a:rPr lang="en-IN" sz="3600" b="1" dirty="0">
                          <a:latin typeface="Poppins ExtraBold" panose="00000900000000000000" pitchFamily="2" charset="0"/>
                          <a:cs typeface="Poppins ExtraBold" panose="00000900000000000000" pitchFamily="2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600" b="1" dirty="0">
                          <a:latin typeface="Poppins ExtraBold" panose="00000900000000000000" pitchFamily="2" charset="0"/>
                          <a:cs typeface="Poppins ExtraBold" panose="00000900000000000000" pitchFamily="2" charset="0"/>
                        </a:rPr>
                        <a:t>Soil (</a:t>
                      </a:r>
                      <a:r>
                        <a:rPr lang="en-IN" sz="3600" b="1" dirty="0">
                          <a:latin typeface="Calisto MT" panose="02040603050505030304" pitchFamily="18" charset="0"/>
                          <a:cs typeface="Poppins ExtraBold" panose="00000900000000000000" pitchFamily="2" charset="0"/>
                        </a:rPr>
                        <a:t>YOLOv11</a:t>
                      </a:r>
                      <a:r>
                        <a:rPr lang="en-IN" sz="3600" b="1" dirty="0">
                          <a:latin typeface="Poppins ExtraBold" panose="00000900000000000000" pitchFamily="2" charset="0"/>
                          <a:cs typeface="Poppins ExtraBold" panose="00000900000000000000" pitchFamily="2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509095"/>
                  </a:ext>
                </a:extLst>
              </a:tr>
              <a:tr h="795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0.71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0.68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839901"/>
                  </a:ext>
                </a:extLst>
              </a:tr>
              <a:tr h="795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0.66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0.51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088070"/>
                  </a:ext>
                </a:extLst>
              </a:tr>
              <a:tr h="795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F1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0.68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0.58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963062"/>
                  </a:ext>
                </a:extLst>
              </a:tr>
              <a:tr h="7954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mAP50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0.71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dirty="0">
                          <a:latin typeface="Poppins SemiBold" panose="00000700000000000000" pitchFamily="2" charset="0"/>
                          <a:cs typeface="Poppins SemiBold" panose="00000700000000000000" pitchFamily="2" charset="0"/>
                        </a:rPr>
                        <a:t>0.57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442322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D4BC1FC5-F4E5-E551-D881-E002D8EE9C1B}"/>
              </a:ext>
            </a:extLst>
          </p:cNvPr>
          <p:cNvGrpSpPr/>
          <p:nvPr/>
        </p:nvGrpSpPr>
        <p:grpSpPr>
          <a:xfrm rot="21337211">
            <a:off x="13794877" y="5442109"/>
            <a:ext cx="3551865" cy="4332858"/>
            <a:chOff x="13930682" y="5442007"/>
            <a:chExt cx="3551865" cy="43328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C7B1867-E174-E842-5B67-8AD46B323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  <a14:imgEffect>
                        <a14:saturation sat="40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03830">
              <a:off x="13930682" y="5552694"/>
              <a:ext cx="3370247" cy="422217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99E21A59-6002-407B-5396-0D2D73668B65}"/>
                </a:ext>
              </a:extLst>
            </p:cNvPr>
            <p:cNvSpPr/>
            <p:nvPr/>
          </p:nvSpPr>
          <p:spPr>
            <a:xfrm rot="938820">
              <a:off x="16715784" y="5442007"/>
              <a:ext cx="766763" cy="725150"/>
            </a:xfrm>
            <a:custGeom>
              <a:avLst/>
              <a:gdLst/>
              <a:ahLst/>
              <a:cxnLst/>
              <a:rect l="l" t="t" r="r" b="b"/>
              <a:pathLst>
                <a:path w="934700" h="934700">
                  <a:moveTo>
                    <a:pt x="0" y="0"/>
                  </a:moveTo>
                  <a:lnTo>
                    <a:pt x="934699" y="0"/>
                  </a:lnTo>
                  <a:lnTo>
                    <a:pt x="934699" y="934700"/>
                  </a:lnTo>
                  <a:lnTo>
                    <a:pt x="0" y="934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Freeform 17">
            <a:extLst>
              <a:ext uri="{FF2B5EF4-FFF2-40B4-BE49-F238E27FC236}">
                <a16:creationId xmlns:a16="http://schemas.microsoft.com/office/drawing/2014/main" id="{6D713ECE-A08A-DA56-B86C-E2AD066DC082}"/>
              </a:ext>
            </a:extLst>
          </p:cNvPr>
          <p:cNvSpPr/>
          <p:nvPr/>
        </p:nvSpPr>
        <p:spPr>
          <a:xfrm>
            <a:off x="7650427" y="9029700"/>
            <a:ext cx="476779" cy="119195"/>
          </a:xfrm>
          <a:custGeom>
            <a:avLst/>
            <a:gdLst/>
            <a:ahLst/>
            <a:cxnLst/>
            <a:rect l="l" t="t" r="r" b="b"/>
            <a:pathLst>
              <a:path w="476779" h="119195">
                <a:moveTo>
                  <a:pt x="0" y="0"/>
                </a:moveTo>
                <a:lnTo>
                  <a:pt x="476779" y="0"/>
                </a:lnTo>
                <a:lnTo>
                  <a:pt x="476779" y="119195"/>
                </a:lnTo>
                <a:lnTo>
                  <a:pt x="0" y="1191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84607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524000" y="876300"/>
            <a:ext cx="74676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8800" dirty="0">
                <a:solidFill>
                  <a:srgbClr val="C1FF72"/>
                </a:solidFill>
                <a:latin typeface="Poppins ExtraBold" panose="00000900000000000000" pitchFamily="2" charset="0"/>
                <a:ea typeface="Bicubik"/>
                <a:cs typeface="Poppins ExtraBold" panose="00000900000000000000" pitchFamily="2" charset="0"/>
                <a:sym typeface="Bicubik"/>
              </a:rPr>
              <a:t>Conclusion</a:t>
            </a:r>
          </a:p>
        </p:txBody>
      </p:sp>
      <p:sp>
        <p:nvSpPr>
          <p:cNvPr id="17" name="Freeform 17"/>
          <p:cNvSpPr/>
          <p:nvPr/>
        </p:nvSpPr>
        <p:spPr>
          <a:xfrm>
            <a:off x="5019410" y="9035755"/>
            <a:ext cx="476779" cy="119195"/>
          </a:xfrm>
          <a:custGeom>
            <a:avLst/>
            <a:gdLst/>
            <a:ahLst/>
            <a:cxnLst/>
            <a:rect l="l" t="t" r="r" b="b"/>
            <a:pathLst>
              <a:path w="476779" h="119195">
                <a:moveTo>
                  <a:pt x="0" y="0"/>
                </a:moveTo>
                <a:lnTo>
                  <a:pt x="476779" y="0"/>
                </a:lnTo>
                <a:lnTo>
                  <a:pt x="476779" y="119195"/>
                </a:lnTo>
                <a:lnTo>
                  <a:pt x="0" y="119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ADFC9EEB-FE63-909D-BDA9-172DEFC8015B}"/>
              </a:ext>
            </a:extLst>
          </p:cNvPr>
          <p:cNvSpPr txBox="1"/>
          <p:nvPr/>
        </p:nvSpPr>
        <p:spPr>
          <a:xfrm>
            <a:off x="1143000" y="3695700"/>
            <a:ext cx="10896600" cy="3884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Successfully built an AI pipeline for vegetation and soil detection.</a:t>
            </a: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Ø"/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Overview of how YOLOv8 and YOLOv11 contribute to vegetation and soil detection.</a:t>
            </a:r>
          </a:p>
          <a:p>
            <a:pPr algn="l">
              <a:lnSpc>
                <a:spcPts val="3800"/>
              </a:lnSpc>
            </a:pPr>
            <a:endParaRPr lang="en-US" sz="3000" spc="-96" dirty="0">
              <a:solidFill>
                <a:schemeClr val="bg1"/>
              </a:solidFill>
              <a:latin typeface="Poppins SemiBold" panose="00000700000000000000" pitchFamily="2" charset="0"/>
              <a:ea typeface="Open Sauce"/>
              <a:cs typeface="Poppins SemiBold" panose="00000700000000000000" pitchFamily="2" charset="0"/>
              <a:sym typeface="Open Sauce"/>
            </a:endParaRPr>
          </a:p>
          <a:p>
            <a:pPr marL="457200" indent="-4572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en-US" sz="3000" spc="-96" dirty="0">
                <a:solidFill>
                  <a:schemeClr val="bg1"/>
                </a:solidFill>
                <a:latin typeface="Poppins SemiBold" panose="00000700000000000000" pitchFamily="2" charset="0"/>
                <a:ea typeface="Open Sauce"/>
                <a:cs typeface="Poppins SemiBold" panose="00000700000000000000" pitchFamily="2" charset="0"/>
                <a:sym typeface="Open Sauce"/>
              </a:rPr>
              <a:t>Combines AI + Web + Geospatial analysis for real-world archaeological applications.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F76F966-1F96-DB07-E2E6-D86D0E9C0A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6783" t="6797" r="7707" b="4891"/>
          <a:stretch>
            <a:fillRect/>
          </a:stretch>
        </p:blipFill>
        <p:spPr>
          <a:xfrm rot="528986">
            <a:off x="12536097" y="7156915"/>
            <a:ext cx="2617423" cy="27032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05A5BA9A-F29A-7FBF-3250-541A594DF773}"/>
              </a:ext>
            </a:extLst>
          </p:cNvPr>
          <p:cNvGrpSpPr/>
          <p:nvPr/>
        </p:nvGrpSpPr>
        <p:grpSpPr>
          <a:xfrm rot="173574">
            <a:off x="13084379" y="2476500"/>
            <a:ext cx="3936531" cy="4314950"/>
            <a:chOff x="13127278" y="2503600"/>
            <a:chExt cx="3936531" cy="4314950"/>
          </a:xfrm>
        </p:grpSpPr>
        <p:pic>
          <p:nvPicPr>
            <p:cNvPr id="13314" name="Picture 2" descr="Conclusion - Free people icons">
              <a:extLst>
                <a:ext uri="{FF2B5EF4-FFF2-40B4-BE49-F238E27FC236}">
                  <a16:creationId xmlns:a16="http://schemas.microsoft.com/office/drawing/2014/main" id="{F4086E9E-EE01-9D08-3701-8066381165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25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092050">
              <a:off x="13127278" y="2503600"/>
              <a:ext cx="3936531" cy="393653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25" name="Freeform 25"/>
            <p:cNvSpPr/>
            <p:nvPr/>
          </p:nvSpPr>
          <p:spPr>
            <a:xfrm rot="21050695">
              <a:off x="15038430" y="6037450"/>
              <a:ext cx="781100" cy="781100"/>
            </a:xfrm>
            <a:custGeom>
              <a:avLst/>
              <a:gdLst/>
              <a:ahLst/>
              <a:cxnLst/>
              <a:rect l="l" t="t" r="r" b="b"/>
              <a:pathLst>
                <a:path w="781100" h="781100">
                  <a:moveTo>
                    <a:pt x="0" y="0"/>
                  </a:moveTo>
                  <a:lnTo>
                    <a:pt x="781100" y="0"/>
                  </a:lnTo>
                  <a:lnTo>
                    <a:pt x="781100" y="781100"/>
                  </a:lnTo>
                  <a:lnTo>
                    <a:pt x="0" y="7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8905610" y="4637334"/>
            <a:ext cx="476779" cy="119195"/>
          </a:xfrm>
          <a:custGeom>
            <a:avLst/>
            <a:gdLst/>
            <a:ahLst/>
            <a:cxnLst/>
            <a:rect l="l" t="t" r="r" b="b"/>
            <a:pathLst>
              <a:path w="476779" h="119195">
                <a:moveTo>
                  <a:pt x="0" y="0"/>
                </a:moveTo>
                <a:lnTo>
                  <a:pt x="476780" y="0"/>
                </a:lnTo>
                <a:lnTo>
                  <a:pt x="476780" y="119194"/>
                </a:lnTo>
                <a:lnTo>
                  <a:pt x="0" y="1191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7D6E03-201E-A6ED-DEBE-C220A27AACDC}"/>
              </a:ext>
            </a:extLst>
          </p:cNvPr>
          <p:cNvGrpSpPr/>
          <p:nvPr/>
        </p:nvGrpSpPr>
        <p:grpSpPr>
          <a:xfrm>
            <a:off x="2547081" y="5295900"/>
            <a:ext cx="13073218" cy="1769715"/>
            <a:chOff x="2580267" y="5421060"/>
            <a:chExt cx="13073218" cy="1769715"/>
          </a:xfrm>
        </p:grpSpPr>
        <p:sp>
          <p:nvSpPr>
            <p:cNvPr id="6" name="TextBox 6"/>
            <p:cNvSpPr txBox="1"/>
            <p:nvPr/>
          </p:nvSpPr>
          <p:spPr>
            <a:xfrm>
              <a:off x="2580267" y="5421060"/>
              <a:ext cx="13073218" cy="17697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11500" dirty="0">
                  <a:solidFill>
                    <a:srgbClr val="C1FF72"/>
                  </a:solidFill>
                  <a:latin typeface="Poppins ExtraBold" panose="00000900000000000000" pitchFamily="2" charset="0"/>
                  <a:ea typeface="Bicubik"/>
                  <a:cs typeface="Poppins ExtraBold" panose="00000900000000000000" pitchFamily="2" charset="0"/>
                  <a:sym typeface="Bicubik"/>
                </a:rPr>
                <a:t>Thank You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3740755" y="5915368"/>
              <a:ext cx="781100" cy="781100"/>
            </a:xfrm>
            <a:custGeom>
              <a:avLst/>
              <a:gdLst/>
              <a:ahLst/>
              <a:cxnLst/>
              <a:rect l="l" t="t" r="r" b="b"/>
              <a:pathLst>
                <a:path w="781100" h="781100">
                  <a:moveTo>
                    <a:pt x="0" y="0"/>
                  </a:moveTo>
                  <a:lnTo>
                    <a:pt x="781101" y="0"/>
                  </a:lnTo>
                  <a:lnTo>
                    <a:pt x="781101" y="781100"/>
                  </a:lnTo>
                  <a:lnTo>
                    <a:pt x="0" y="7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3769971" y="5917281"/>
              <a:ext cx="781100" cy="781100"/>
            </a:xfrm>
            <a:custGeom>
              <a:avLst/>
              <a:gdLst/>
              <a:ahLst/>
              <a:cxnLst/>
              <a:rect l="l" t="t" r="r" b="b"/>
              <a:pathLst>
                <a:path w="781100" h="781100">
                  <a:moveTo>
                    <a:pt x="0" y="0"/>
                  </a:moveTo>
                  <a:lnTo>
                    <a:pt x="781100" y="0"/>
                  </a:lnTo>
                  <a:lnTo>
                    <a:pt x="781100" y="781100"/>
                  </a:lnTo>
                  <a:lnTo>
                    <a:pt x="0" y="78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31" name="Freeform 31"/>
          <p:cNvSpPr/>
          <p:nvPr/>
        </p:nvSpPr>
        <p:spPr>
          <a:xfrm>
            <a:off x="13736785" y="8616371"/>
            <a:ext cx="1616773" cy="884816"/>
          </a:xfrm>
          <a:custGeom>
            <a:avLst/>
            <a:gdLst/>
            <a:ahLst/>
            <a:cxnLst/>
            <a:rect l="l" t="t" r="r" b="b"/>
            <a:pathLst>
              <a:path w="1616773" h="884816">
                <a:moveTo>
                  <a:pt x="0" y="0"/>
                </a:moveTo>
                <a:lnTo>
                  <a:pt x="1616773" y="0"/>
                </a:lnTo>
                <a:lnTo>
                  <a:pt x="1616773" y="884816"/>
                </a:lnTo>
                <a:lnTo>
                  <a:pt x="0" y="884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5620299" y="8602084"/>
            <a:ext cx="1616773" cy="884816"/>
          </a:xfrm>
          <a:custGeom>
            <a:avLst/>
            <a:gdLst/>
            <a:ahLst/>
            <a:cxnLst/>
            <a:rect l="l" t="t" r="r" b="b"/>
            <a:pathLst>
              <a:path w="1616773" h="884816">
                <a:moveTo>
                  <a:pt x="0" y="0"/>
                </a:moveTo>
                <a:lnTo>
                  <a:pt x="1616773" y="0"/>
                </a:lnTo>
                <a:lnTo>
                  <a:pt x="1616773" y="884816"/>
                </a:lnTo>
                <a:lnTo>
                  <a:pt x="0" y="884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602829F-C61A-EE03-1094-7B24411C206F}"/>
              </a:ext>
            </a:extLst>
          </p:cNvPr>
          <p:cNvGrpSpPr/>
          <p:nvPr/>
        </p:nvGrpSpPr>
        <p:grpSpPr>
          <a:xfrm>
            <a:off x="1752600" y="852483"/>
            <a:ext cx="12632609" cy="2737728"/>
            <a:chOff x="1752600" y="471721"/>
            <a:chExt cx="12632609" cy="2737728"/>
          </a:xfrm>
        </p:grpSpPr>
        <p:sp>
          <p:nvSpPr>
            <p:cNvPr id="34" name="TextBox 19">
              <a:extLst>
                <a:ext uri="{FF2B5EF4-FFF2-40B4-BE49-F238E27FC236}">
                  <a16:creationId xmlns:a16="http://schemas.microsoft.com/office/drawing/2014/main" id="{4ECB86B0-805F-1989-DF0A-E73E30ADCD29}"/>
                </a:ext>
              </a:extLst>
            </p:cNvPr>
            <p:cNvSpPr txBox="1"/>
            <p:nvPr/>
          </p:nvSpPr>
          <p:spPr>
            <a:xfrm>
              <a:off x="1752600" y="1485900"/>
              <a:ext cx="12632609" cy="172354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spcBef>
                  <a:spcPts val="1200"/>
                </a:spcBef>
              </a:pPr>
              <a:r>
                <a:rPr lang="en-US" sz="3200" b="1" spc="-95" dirty="0">
                  <a:solidFill>
                    <a:srgbClr val="D9D9D9"/>
                  </a:solidFill>
                  <a:latin typeface="Poppins SemiBold" panose="00000700000000000000" pitchFamily="2" charset="0"/>
                  <a:ea typeface="Open Sauce Bold"/>
                  <a:cs typeface="Poppins SemiBold" panose="00000700000000000000" pitchFamily="2" charset="0"/>
                  <a:sym typeface="Open Sauce Bold"/>
                </a:rPr>
                <a:t>Mentor: </a:t>
              </a:r>
              <a:r>
                <a:rPr lang="en-US" sz="3200" b="1" spc="-95" dirty="0">
                  <a:solidFill>
                    <a:srgbClr val="00FFFF"/>
                  </a:solidFill>
                  <a:latin typeface="Poppins SemiBold" panose="00000700000000000000" pitchFamily="2" charset="0"/>
                  <a:ea typeface="Open Sauce Bold"/>
                  <a:cs typeface="Poppins SemiBold" panose="00000700000000000000" pitchFamily="2" charset="0"/>
                  <a:sym typeface="Open Sauce Bold"/>
                </a:rPr>
                <a:t>Vamshi Krishna Sir</a:t>
              </a:r>
            </a:p>
            <a:p>
              <a:pPr algn="l">
                <a:spcBef>
                  <a:spcPts val="1200"/>
                </a:spcBef>
              </a:pPr>
              <a:r>
                <a:rPr lang="en-US" sz="3200" b="1" spc="-95" dirty="0">
                  <a:solidFill>
                    <a:srgbClr val="D9D9D9"/>
                  </a:solidFill>
                  <a:latin typeface="Poppins SemiBold" panose="00000700000000000000" pitchFamily="2" charset="0"/>
                  <a:ea typeface="Open Sauce Bold"/>
                  <a:cs typeface="Poppins SemiBold" panose="00000700000000000000" pitchFamily="2" charset="0"/>
                  <a:sym typeface="Open Sauce Bold"/>
                </a:rPr>
                <a:t>Institution: </a:t>
              </a:r>
              <a:r>
                <a:rPr lang="en-US" sz="3200" b="1" spc="-95" dirty="0">
                  <a:solidFill>
                    <a:schemeClr val="tx2">
                      <a:lumMod val="40000"/>
                      <a:lumOff val="60000"/>
                    </a:schemeClr>
                  </a:solidFill>
                  <a:latin typeface="Poppins SemiBold" panose="00000700000000000000" pitchFamily="2" charset="0"/>
                  <a:ea typeface="Open Sauce Bold"/>
                  <a:cs typeface="Poppins SemiBold" panose="00000700000000000000" pitchFamily="2" charset="0"/>
                  <a:sym typeface="Open Sauce Bold"/>
                </a:rPr>
                <a:t>Infosys Springboard </a:t>
              </a:r>
              <a:r>
                <a:rPr lang="en-US" sz="3200" b="1" spc="-95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Poppins SemiBold" panose="00000700000000000000" pitchFamily="2" charset="0"/>
                  <a:ea typeface="Open Sauce Bold"/>
                  <a:cs typeface="Poppins SemiBold" panose="00000700000000000000" pitchFamily="2" charset="0"/>
                  <a:sym typeface="Open Sauce Bold"/>
                </a:rPr>
                <a:t>Internship Program</a:t>
              </a:r>
            </a:p>
            <a:p>
              <a:pPr algn="l">
                <a:spcBef>
                  <a:spcPts val="1200"/>
                </a:spcBef>
              </a:pPr>
              <a:r>
                <a:rPr lang="en-US" sz="2800" b="1" spc="-95" dirty="0">
                  <a:solidFill>
                    <a:srgbClr val="D9D9D9"/>
                  </a:solidFill>
                  <a:latin typeface="Poppins SemiBold" panose="00000700000000000000" pitchFamily="2" charset="0"/>
                  <a:ea typeface="Open Sauce Bold"/>
                  <a:cs typeface="Poppins SemiBold" panose="00000700000000000000" pitchFamily="2" charset="0"/>
                  <a:sym typeface="Open Sauce Bold"/>
                </a:rPr>
                <a:t>Special Thanks: Open-source contributors (</a:t>
              </a:r>
              <a:r>
                <a:rPr lang="en-US" sz="2800" b="1" spc="-95" dirty="0" err="1">
                  <a:solidFill>
                    <a:srgbClr val="D9D9D9"/>
                  </a:solidFill>
                  <a:latin typeface="Poppins SemiBold" panose="00000700000000000000" pitchFamily="2" charset="0"/>
                  <a:ea typeface="Open Sauce Bold"/>
                  <a:cs typeface="Poppins SemiBold" panose="00000700000000000000" pitchFamily="2" charset="0"/>
                  <a:sym typeface="Open Sauce Bold"/>
                </a:rPr>
                <a:t>Roboflow</a:t>
              </a:r>
              <a:r>
                <a:rPr lang="en-US" sz="2800" b="1" spc="-95" dirty="0">
                  <a:solidFill>
                    <a:srgbClr val="D9D9D9"/>
                  </a:solidFill>
                  <a:latin typeface="Poppins SemiBold" panose="00000700000000000000" pitchFamily="2" charset="0"/>
                  <a:ea typeface="Open Sauce Bold"/>
                  <a:cs typeface="Poppins SemiBold" panose="00000700000000000000" pitchFamily="2" charset="0"/>
                  <a:sym typeface="Open Sauce Bold"/>
                </a:rPr>
                <a:t>, React community)</a:t>
              </a:r>
            </a:p>
          </p:txBody>
        </p:sp>
        <p:sp>
          <p:nvSpPr>
            <p:cNvPr id="36" name="TextBox 6">
              <a:extLst>
                <a:ext uri="{FF2B5EF4-FFF2-40B4-BE49-F238E27FC236}">
                  <a16:creationId xmlns:a16="http://schemas.microsoft.com/office/drawing/2014/main" id="{2DD5B136-089C-665D-4FAD-850BD4D9BB67}"/>
                </a:ext>
              </a:extLst>
            </p:cNvPr>
            <p:cNvSpPr txBox="1"/>
            <p:nvPr/>
          </p:nvSpPr>
          <p:spPr>
            <a:xfrm>
              <a:off x="1752600" y="471721"/>
              <a:ext cx="5410200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4800" dirty="0">
                  <a:solidFill>
                    <a:srgbClr val="C1FF72"/>
                  </a:solidFill>
                  <a:latin typeface="Arial Rounded MT Bold" panose="020F0704030504030204" pitchFamily="34" charset="0"/>
                  <a:ea typeface="Bicubik"/>
                  <a:cs typeface="Bicubik"/>
                  <a:sym typeface="Bicubik"/>
                </a:rPr>
                <a:t>Acknowledgment</a:t>
              </a:r>
            </a:p>
          </p:txBody>
        </p:sp>
      </p:grpSp>
      <p:pic>
        <p:nvPicPr>
          <p:cNvPr id="2051" name="Picture 3">
            <a:extLst>
              <a:ext uri="{FF2B5EF4-FFF2-40B4-BE49-F238E27FC236}">
                <a16:creationId xmlns:a16="http://schemas.microsoft.com/office/drawing/2014/main" id="{F710CE8A-A37E-1DFF-E08F-9D923EAACE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145" t="4597" r="2119" b="7772"/>
          <a:stretch>
            <a:fillRect/>
          </a:stretch>
        </p:blipFill>
        <p:spPr bwMode="auto">
          <a:xfrm flipH="1">
            <a:off x="1196149" y="5295900"/>
            <a:ext cx="3001734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476</Words>
  <Application>Microsoft Office PowerPoint</Application>
  <PresentationFormat>Custom</PresentationFormat>
  <Paragraphs>103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Times New Roman</vt:lpstr>
      <vt:lpstr>Open Sauce Bold</vt:lpstr>
      <vt:lpstr>Calisto MT</vt:lpstr>
      <vt:lpstr>Wingdings</vt:lpstr>
      <vt:lpstr>Calibri</vt:lpstr>
      <vt:lpstr>Book Antiqua</vt:lpstr>
      <vt:lpstr>Arial</vt:lpstr>
      <vt:lpstr>Poppins ExtraBold</vt:lpstr>
      <vt:lpstr>Poppins SemiBold</vt:lpstr>
      <vt:lpstr>Algerian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Black Modern Machine Learning Presentation</dc:title>
  <cp:lastModifiedBy>Ankit Kumar Singh</cp:lastModifiedBy>
  <cp:revision>15</cp:revision>
  <dcterms:created xsi:type="dcterms:W3CDTF">2006-08-16T00:00:00Z</dcterms:created>
  <dcterms:modified xsi:type="dcterms:W3CDTF">2025-11-11T19:05:37Z</dcterms:modified>
  <dc:identifier>DAG3wS-ZUCI</dc:identifier>
</cp:coreProperties>
</file>